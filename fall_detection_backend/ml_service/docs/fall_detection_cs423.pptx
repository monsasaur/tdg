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>
                <a:solidFill>
                  <a:srgbClr val="0A2540"/>
                </a:solidFill>
                <a:latin typeface="Sarabun"/>
              </a:rPr>
              <a:t>ระบบตรวจจับการล้มของผู้สูงอายุ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5156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0A2540"/>
                </a:solidFill>
                <a:latin typeface="Sarabun"/>
              </a:rPr>
              <a:t>ด้วย IoT และ WiFi RF Sensing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00B4D8"/>
                </a:solidFill>
                <a:latin typeface="Sarabun"/>
              </a:rPr>
              <a:t>Fall Detection IoT System using WiFi CSI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611880"/>
            <a:ext cx="2743200" cy="15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8862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2540"/>
                </a:solidFill>
                <a:latin typeface="Sarabun"/>
              </a:rPr>
              <a:t>จัดทำโดย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24528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C757D"/>
                </a:solidFill>
                <a:latin typeface="Sarabun"/>
              </a:rPr>
              <a:t>[ ใส่ชื่อ-นามสกุลและรหัสนักศึกษา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A2540"/>
                </a:solidFill>
                <a:latin typeface="Sarabun"/>
              </a:rPr>
              <a:t>เสนอ: อ.ทศพร เวชศิริ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413248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A2540"/>
                </a:solidFill>
                <a:latin typeface="Sarabun"/>
              </a:rPr>
              <a:t>รายวิชา: CS423 Internet of Things and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Sarabun"/>
              </a:rPr>
              <a:t>1 / 15 · CS423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A2540"/>
                </a:solidFill>
                <a:latin typeface="Sarabun"/>
              </a:rPr>
              <a:t>ที่มาและความสำคัญ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77824"/>
            <a:ext cx="2194560" cy="12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Sarabun"/>
              </a:rPr>
              <a:t>2 / 15 · CS423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0B4D8"/>
                </a:solidFill>
                <a:latin typeface="Sarabun"/>
              </a:rPr>
              <a:t>สถานการณ์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9728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0A2540"/>
                </a:solidFill>
                <a:latin typeface="Sarabun"/>
              </a:rPr>
              <a:t>•  ผู้สูงอายุ 1 ใน 3 ที่อายุเกิน 60 ปี ประสบเหตุล้มทุกปี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0A2540"/>
                </a:solidFill>
                <a:latin typeface="Sarabun"/>
              </a:rPr>
              <a:t>•  การช่วยเหลือล่าช้าเกิน 3 ชั่วโมง อาจถึงแก่ชีวิต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0B4D8"/>
                </a:solidFill>
                <a:latin typeface="Sarabun"/>
              </a:rPr>
              <a:t>ข้อจำกัดของระบบที่มีอยู่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2004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Sarabun"/>
                        </a:rPr>
                        <a:t>ระบบ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Sarabun"/>
                        </a:rPr>
                        <a:t>ข้อจำกัด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A2540"/>
                          </a:solidFill>
                          <a:latin typeface="Sarabun"/>
                        </a:rPr>
                        <a:t>กล้องวงจรปิด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A2540"/>
                          </a:solidFill>
                          <a:latin typeface="Sarabun"/>
                        </a:rPr>
                        <a:t>ละเมิดความเป็นส่วนตัว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A2540"/>
                          </a:solidFill>
                          <a:latin typeface="Sarabun"/>
                        </a:rPr>
                        <a:t>อุปกรณ์สวมใส่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A2540"/>
                          </a:solidFill>
                          <a:latin typeface="Sarabun"/>
                        </a:rPr>
                        <a:t>ลืมสวม / ต้องชาร์จ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A2540"/>
                          </a:solidFill>
                          <a:latin typeface="Sarabun"/>
                        </a:rPr>
                        <a:t>เซนเซอร์แรงดันบนพื้น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A2540"/>
                          </a:solidFill>
                          <a:latin typeface="Sarabun"/>
                        </a:rPr>
                        <a:t>ติดตั้งยาก / ครอบคลุมจำกัด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5440680"/>
            <a:ext cx="10972800" cy="7772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Sarabun"/>
              </a:rPr>
              <a:t>▶  แนวทางของเรา: IoT แบบ non-intrusive ใช้คลื่น WiFi เป็น sensing medium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A2540"/>
                </a:solidFill>
                <a:latin typeface="Sarabun"/>
              </a:rPr>
              <a:t>RF Sensing — เทคนิค IoT ขั้นสูง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77824"/>
            <a:ext cx="2194560" cy="12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Sarabun"/>
              </a:rPr>
              <a:t>3 / 15 · CS423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0A2540"/>
                </a:solidFill>
                <a:latin typeface="Sarabun"/>
              </a:rPr>
              <a:t>RF Sensing คือการใช้คลื่นวิทยุที่มีอยู่ในสภาพแวดล้อมเป็นเซนเซอร์ ไม่ต้องติดตั้งเซนเซอร์เพิ่ม ไม่ต้องแปะอุปกรณ์ที่ตัวคน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B4D8"/>
                </a:solidFill>
                <a:latin typeface="Sarabun"/>
              </a:rPr>
              <a:t>เปรียบเทียบ Wireless Sensing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468880"/>
          <a:ext cx="109728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4114800"/>
                <a:gridCol w="3429000"/>
              </a:tblGrid>
              <a:tr h="35661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Sarabun"/>
                        </a:rPr>
                        <a:t>เทคโนโลยี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Sarabun"/>
                        </a:rPr>
                        <a:t>อุปกรณ์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Sarabun"/>
                        </a:rPr>
                        <a:t>ครอบคลุม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35661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A2540"/>
                          </a:solidFill>
                          <a:latin typeface="Sarabun"/>
                        </a:rPr>
                        <a:t>Bluetooth RSSI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A2540"/>
                          </a:solidFill>
                          <a:latin typeface="Sarabun"/>
                        </a:rPr>
                        <a:t>BLE beacon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A2540"/>
                          </a:solidFill>
                          <a:latin typeface="Sarabun"/>
                        </a:rPr>
                        <a:t>ใกล้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A2540"/>
                          </a:solidFill>
                          <a:latin typeface="Sarabun"/>
                        </a:rPr>
                        <a:t>UWB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A2540"/>
                          </a:solidFill>
                          <a:latin typeface="Sarabun"/>
                        </a:rPr>
                        <a:t>Anchor 3-4 ตัว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A2540"/>
                          </a:solidFill>
                          <a:latin typeface="Sarabun"/>
                        </a:rPr>
                        <a:t>กลาง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A2540"/>
                          </a:solidFill>
                          <a:latin typeface="Sarabun"/>
                        </a:rPr>
                        <a:t>Lidar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A2540"/>
                          </a:solidFill>
                          <a:latin typeface="Sarabun"/>
                        </a:rPr>
                        <a:t>Lidar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A2540"/>
                          </a:solidFill>
                          <a:latin typeface="Sarabun"/>
                        </a:rPr>
                        <a:t>แคบ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A2540"/>
                          </a:solidFill>
                          <a:latin typeface="Sarabun"/>
                        </a:rPr>
                        <a:t>WiFi CSI (เรา) ✓</a:t>
                      </a:r>
                    </a:p>
                  </a:txBody>
                  <a:tcPr>
                    <a:solidFill>
                      <a:srgbClr val="D7EEE5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A2540"/>
                          </a:solidFill>
                          <a:latin typeface="Sarabun"/>
                        </a:rPr>
                        <a:t>ESP32 ×2</a:t>
                      </a:r>
                    </a:p>
                  </a:txBody>
                  <a:tcPr>
                    <a:solidFill>
                      <a:srgbClr val="D7EEE5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A2540"/>
                          </a:solidFill>
                          <a:latin typeface="Sarabun"/>
                        </a:rPr>
                        <a:t>ทั้งห้อง</a:t>
                      </a:r>
                    </a:p>
                  </a:txBody>
                  <a:tcPr>
                    <a:solidFill>
                      <a:srgbClr val="D7EEE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4348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B4D8"/>
                </a:solidFill>
                <a:latin typeface="Sarabun"/>
              </a:rPr>
              <a:t>CSI Pattern แต่ละกิจกรรม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46320"/>
            <a:ext cx="3611880" cy="1463040"/>
          </a:xfrm>
          <a:prstGeom prst="rect">
            <a:avLst/>
          </a:prstGeom>
          <a:solidFill>
            <a:srgbClr val="E9ECE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1">
                <a:solidFill>
                  <a:srgbClr val="6C757D"/>
                </a:solidFill>
                <a:latin typeface="Sarabun"/>
              </a:rPr>
              <a:t>[ CSI: ยืนนิ่ง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6552" y="4846320"/>
            <a:ext cx="3611880" cy="1463040"/>
          </a:xfrm>
          <a:prstGeom prst="rect">
            <a:avLst/>
          </a:prstGeom>
          <a:solidFill>
            <a:srgbClr val="E9ECE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1">
                <a:solidFill>
                  <a:srgbClr val="6C757D"/>
                </a:solidFill>
                <a:latin typeface="Sarabun"/>
              </a:rPr>
              <a:t>[ CSI: เดิน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3024" y="4846320"/>
            <a:ext cx="3611880" cy="1463040"/>
          </a:xfrm>
          <a:prstGeom prst="rect">
            <a:avLst/>
          </a:prstGeom>
          <a:solidFill>
            <a:srgbClr val="E9ECE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1">
                <a:solidFill>
                  <a:srgbClr val="6C757D"/>
                </a:solidFill>
                <a:latin typeface="Sarabun"/>
              </a:rPr>
              <a:t>[ CSI: ล้ม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A2540"/>
                </a:solidFill>
                <a:latin typeface="Sarabun"/>
              </a:rPr>
              <a:t>Hardware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77824"/>
            <a:ext cx="2194560" cy="12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Sarabun"/>
              </a:rPr>
              <a:t>4 / 15 · CS423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B4D8"/>
                </a:solidFill>
                <a:latin typeface="Sarabun"/>
              </a:rPr>
              <a:t>อุปกรณ์ที่ใช้ทั้งหมด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54480"/>
          <a:ext cx="1097279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8953"/>
                <a:gridCol w="1406769"/>
                <a:gridCol w="5627076"/>
              </a:tblGrid>
              <a:tr h="3200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arabun"/>
                        </a:rPr>
                        <a:t>รายการ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arabun"/>
                        </a:rPr>
                        <a:t>จำนวน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arabun"/>
                        </a:rPr>
                        <a:t>หน้าที่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3200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ESP32-WROOM-32</a:t>
                      </a:r>
                    </a:p>
                  </a:txBody>
                  <a:tcPr>
                    <a:solidFill>
                      <a:srgbClr val="D9F1F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×2</a:t>
                      </a:r>
                    </a:p>
                  </a:txBody>
                  <a:tcPr>
                    <a:solidFill>
                      <a:srgbClr val="D9F1F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MCU + WiFi CSI extraction</a:t>
                      </a:r>
                    </a:p>
                  </a:txBody>
                  <a:tcPr>
                    <a:solidFill>
                      <a:srgbClr val="D9F1F7"/>
                    </a:solidFill>
                  </a:tcPr>
                </a:tc>
              </a:tr>
              <a:tr h="3200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USB-C Cable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×2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จ่ายไฟ + flash firmware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Power Bank 5V/2A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×2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จ่ายไฟตอน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Smartphone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×1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Hotspot + Mobile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Laptop /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×1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รับ UDP + ML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3657600"/>
            <a:ext cx="53492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794760"/>
            <a:ext cx="1280160" cy="1417320"/>
          </a:xfrm>
          <a:prstGeom prst="rect">
            <a:avLst/>
          </a:prstGeom>
          <a:solidFill>
            <a:srgbClr val="E9ECE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1">
                <a:solidFill>
                  <a:srgbClr val="6C757D"/>
                </a:solidFill>
                <a:latin typeface="Sarabun"/>
              </a:rPr>
              <a:t>[ รูป ESP32 #1 ]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8404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Sarabun"/>
              </a:rPr>
              <a:t>ESP32 #1 (active_ap)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297680"/>
            <a:ext cx="36576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A2540"/>
                </a:solidFill>
                <a:latin typeface="Sarabun"/>
              </a:rPr>
              <a:t>•  Dual mode AP+STA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A2540"/>
                </a:solidFill>
                <a:latin typeface="Sarabun"/>
              </a:rPr>
              <a:t>•  วัด CSI + ส่ง UDP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657600"/>
            <a:ext cx="53492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794760"/>
            <a:ext cx="1280160" cy="1417320"/>
          </a:xfrm>
          <a:prstGeom prst="rect">
            <a:avLst/>
          </a:prstGeom>
          <a:solidFill>
            <a:srgbClr val="E9ECE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1">
                <a:solidFill>
                  <a:srgbClr val="6C757D"/>
                </a:solidFill>
                <a:latin typeface="Sarabun"/>
              </a:rPr>
              <a:t>[ รูป ESP32 #2 ]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8404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A2540"/>
                </a:solidFill>
                <a:latin typeface="Sarabun"/>
              </a:rPr>
              <a:t>ESP32 #2 (active_sta)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297680"/>
            <a:ext cx="36576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A2540"/>
                </a:solidFill>
                <a:latin typeface="Sarabun"/>
              </a:rPr>
              <a:t>•  STA only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A2540"/>
                </a:solidFill>
                <a:latin typeface="Sarabun"/>
              </a:rPr>
              <a:t>•  ส่ง WiFi packet ให้ตัววัด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Sarabun"/>
              </a:rPr>
              <a:t>💰  ต้นทุนรวมต่อชุด ~ 600 บาท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A2540"/>
                </a:solidFill>
                <a:latin typeface="Sarabun"/>
              </a:rPr>
              <a:t>ทำไม ESP32? — Hardware Specification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77824"/>
            <a:ext cx="2194560" cy="12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Sarabun"/>
              </a:rPr>
              <a:t>5 / 15 · CS423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B4D8"/>
                </a:solidFill>
                <a:latin typeface="Sarabun"/>
              </a:rPr>
              <a:t>เปรียบเทียบกับ MCU ตัวอื่น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6304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  <a:gridCol w="1828800"/>
              </a:tblGrid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arabun"/>
                        </a:rPr>
                        <a:t>คุณสมบัติ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arabun"/>
                        </a:rPr>
                        <a:t>ESP32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arabun"/>
                        </a:rPr>
                        <a:t>ESP8266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arabun"/>
                        </a:rPr>
                        <a:t>Arduino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arabun"/>
                        </a:rPr>
                        <a:t>RPi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CSI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✅</a:t>
                      </a:r>
                    </a:p>
                  </a:txBody>
                  <a:tcPr>
                    <a:solidFill>
                      <a:srgbClr val="D7EEE5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Dual-core 240MHz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✅</a:t>
                      </a:r>
                    </a:p>
                  </a:txBody>
                  <a:tcPr>
                    <a:solidFill>
                      <a:srgbClr val="D7EEE5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WiFi onboard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✅</a:t>
                      </a:r>
                    </a:p>
                  </a:txBody>
                  <a:tcPr>
                    <a:solidFill>
                      <a:srgbClr val="D7EEE5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Dual-mode AP+STA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✅</a:t>
                      </a:r>
                    </a:p>
                  </a:txBody>
                  <a:tcPr>
                    <a:solidFill>
                      <a:srgbClr val="D7EEE5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จำกัด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ราคา (บาท)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250</a:t>
                      </a:r>
                    </a:p>
                  </a:txBody>
                  <a:tcPr>
                    <a:solidFill>
                      <a:srgbClr val="D7EEE5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Power (mA)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80</a:t>
                      </a:r>
                    </a:p>
                  </a:txBody>
                  <a:tcPr>
                    <a:solidFill>
                      <a:srgbClr val="D7EEE5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A2540"/>
                          </a:solidFill>
                          <a:latin typeface="Sarabun"/>
                        </a:rPr>
                        <a:t>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79476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B4D8"/>
                </a:solidFill>
                <a:latin typeface="Sarabun"/>
              </a:rPr>
              <a:t>ESP32-WROOM-32 Specification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60520"/>
            <a:ext cx="10972800" cy="1920240"/>
          </a:xfrm>
          <a:prstGeom prst="rect">
            <a:avLst/>
          </a:prstGeom>
          <a:solidFill>
            <a:srgbClr val="12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10972800" cy="1920240"/>
          </a:xfrm>
          <a:prstGeom prst="rect">
            <a:avLst/>
          </a:prstGeom>
          <a:noFill/>
        </p:spPr>
        <p:txBody>
          <a:bodyPr wrap="square" lIns="182880" rIns="182880" tIns="137160" bIns="13716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7EE0C4"/>
                </a:solidFill>
                <a:latin typeface="Consolas"/>
              </a:rPr>
              <a:t>Chip      : ESP32-D0WD-V3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7EE0C4"/>
                </a:solidFill>
                <a:latin typeface="Consolas"/>
              </a:rPr>
              <a:t>CPU       : Xtensa LX6 Dual-Core @ 240 MHz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7EE0C4"/>
                </a:solidFill>
                <a:latin typeface="Consolas"/>
              </a:rPr>
              <a:t>Memory    : 520 KB SRAM + 448 KB ROM | Flash 4 MB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7EE0C4"/>
                </a:solidFill>
                <a:latin typeface="Consolas"/>
              </a:rPr>
              <a:t>WiFi      : 802.11 b/g/n (2.4 GHz, 150 Mbps)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7EE0C4"/>
                </a:solidFill>
                <a:latin typeface="Consolas"/>
              </a:rPr>
              <a:t>Bluetooth : v4.2 BR/EDR + BLE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7EE0C4"/>
                </a:solidFill>
                <a:latin typeface="Consolas"/>
              </a:rPr>
              <a:t>GPIO      : 34 ขา | Antenna: PCB onboard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7EE0C4"/>
                </a:solidFill>
                <a:latin typeface="Consolas"/>
              </a:rPr>
              <a:t>Voltage   : 3.3V (USB 5V → AMS1117) | Current 80-260 mA 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B4D8"/>
                </a:solidFill>
                <a:latin typeface="Sarabun"/>
              </a:rPr>
              <a:t>▶ จุดตัดสินใจ: ESP32 เป็น MCU ตัวเดียวที่ดึง CSI ได้ในราคาเข้าถึงได้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A2540"/>
                </a:solidFill>
                <a:latin typeface="Sarabun"/>
              </a:rPr>
              <a:t>การประกอบและการเชื่อมต่อ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77824"/>
            <a:ext cx="2194560" cy="12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Sarabun"/>
              </a:rPr>
              <a:t>6 / 15 · CS423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B4D8"/>
                </a:solidFill>
                <a:latin typeface="Sarabun"/>
              </a:rPr>
              <a:t>Wiring &amp; Network Diagram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10972800" cy="1828800"/>
          </a:xfrm>
          <a:prstGeom prst="rect">
            <a:avLst/>
          </a:prstGeom>
          <a:solidFill>
            <a:srgbClr val="E9ECE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1">
                <a:solidFill>
                  <a:srgbClr val="6C757D"/>
                </a:solidFill>
                <a:latin typeface="Sarabun"/>
              </a:rPr>
              <a:t>[ Network Topology — ESP32#2 → packet → ESP32#1 → Hotspot "View" → UDP:5500 → Mac    |    Power Bank ↓ ESP32 ทั้ง 2 ]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290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B4D8"/>
                </a:solidFill>
                <a:latin typeface="Sarabun"/>
              </a:rPr>
              <a:t>ขั้นตอนการประกอบ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09728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A2540"/>
                </a:solidFill>
                <a:latin typeface="Sarabun"/>
              </a:rPr>
              <a:t>①  เสียบ USB-C เข้า ESP32 ทั้ง 2 ตัว → จ่ายไฟ Power Bank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A2540"/>
                </a:solidFill>
                <a:latin typeface="Sarabun"/>
              </a:rPr>
              <a:t>②  Flash firmware: active_ap (ESP32 #1), active_sta (ESP32 #2)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A2540"/>
                </a:solidFill>
                <a:latin typeface="Sarabun"/>
              </a:rPr>
              <a:t>③  ตั้ง Hotspot ชื่อ "View" บนมือถือ → ESP32 #1 auto-connect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A2540"/>
                </a:solidFill>
                <a:latin typeface="Sarabun"/>
              </a:rPr>
              <a:t>④  เปิด server บน Laptop → รับ UDP port 5500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A2540"/>
                </a:solidFill>
                <a:latin typeface="Sarabun"/>
              </a:rPr>
              <a:t>⑤  เริ่มทำงาน — ไม่มีสายไฟเชื่อมระหว่างอุปกรณ์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Sarabun"/>
              </a:rPr>
              <a:t>💡  จุดเด่น: Wireless ทุก layer · ติดตั้งใน 5 นาที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A2540"/>
                </a:solidFill>
                <a:latin typeface="Sarabun"/>
              </a:rPr>
              <a:t>🔴 LIVE DEMO —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77824"/>
            <a:ext cx="2194560" cy="12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Sarabun"/>
              </a:rPr>
              <a:t>7 / 15 · CS423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10972800" cy="3108960"/>
          </a:xfrm>
          <a:prstGeom prst="rect">
            <a:avLst/>
          </a:prstGeom>
          <a:solidFill>
            <a:srgbClr val="E9ECE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1">
                <a:solidFill>
                  <a:srgbClr val="6C757D"/>
                </a:solidFill>
                <a:latin typeface="Sarabun"/>
              </a:rPr>
              <a:t>[ Screenshot: Terminal UDP stream + กราฟ CSI real-time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891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B4D8"/>
                </a:solidFill>
                <a:latin typeface="Sarabun"/>
              </a:rPr>
              <a:t>สิ่งที่จะสาธิต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972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A2540"/>
                </a:solidFill>
                <a:latin typeface="Sarabun"/>
              </a:rPr>
              <a:t>①  ESP32 boot และเชื่อม WiFi อัตโนมัติ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A2540"/>
                </a:solidFill>
                <a:latin typeface="Sarabun"/>
              </a:rPr>
              <a:t>②  UDP packet streaming 100 packet/วินาที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A2540"/>
                </a:solidFill>
                <a:latin typeface="Sarabun"/>
              </a:rPr>
              <a:t>③  กราฟ CSI 52 subcarriers แสดง real-time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A2540"/>
                </a:solidFill>
                <a:latin typeface="Sarabun"/>
              </a:rPr>
              <a:t>④  สัญญาณเปลี่ยนเมื่อมีการเคลื่อนไหว (ยืน → เดิน → ล้ม)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126480"/>
            <a:ext cx="10972800" cy="411480"/>
          </a:xfrm>
          <a:prstGeom prst="rect">
            <a:avLst/>
          </a:prstGeom>
          <a:solidFill>
            <a:srgbClr val="12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126480"/>
            <a:ext cx="10972800" cy="411480"/>
          </a:xfrm>
          <a:prstGeom prst="rect">
            <a:avLst/>
          </a:prstGeom>
          <a:noFill/>
        </p:spPr>
        <p:txBody>
          <a:bodyPr wrap="square" lIns="182880" rIns="182880" tIns="137160" bIns="13716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7EE0C4"/>
                </a:solidFill>
                <a:latin typeface="Consolas"/>
              </a:rPr>
              <a:t>Protocol stack: WiFi 802.11n → UDP → Server (Node.js)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A2540"/>
                </a:solidFill>
                <a:latin typeface="Sarabun"/>
              </a:rPr>
              <a:t>Platform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77824"/>
            <a:ext cx="2194560" cy="12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Sarabun"/>
              </a:rPr>
              <a:t>8 / 15 · CS423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B4D8"/>
                </a:solidFill>
                <a:latin typeface="Sarabun"/>
              </a:rPr>
              <a:t>End-to-End Data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467" y="1554480"/>
            <a:ext cx="1325880" cy="8686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467" y="1554480"/>
            <a:ext cx="13258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Sarabun"/>
              </a:rPr>
              <a:t>ESP32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5347" y="1554480"/>
            <a:ext cx="2286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6C757D"/>
                </a:solidFill>
                <a:latin typeface="Sarabun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3947" y="1554480"/>
            <a:ext cx="1325880" cy="8686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23947" y="1554480"/>
            <a:ext cx="13258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Sarabun"/>
              </a:rPr>
              <a:t>API
(Express)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9827" y="1554480"/>
            <a:ext cx="2286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6C757D"/>
                </a:solidFill>
                <a:latin typeface="Sarabun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78427" y="1554480"/>
            <a:ext cx="1325880" cy="8686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8427" y="1554480"/>
            <a:ext cx="13258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Sarabun"/>
              </a:rPr>
              <a:t>ML Model
(LSTM)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4307" y="1554480"/>
            <a:ext cx="2286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6C757D"/>
                </a:solidFill>
                <a:latin typeface="Sarabun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32907" y="1554480"/>
            <a:ext cx="1325880" cy="86868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2907" y="1554480"/>
            <a:ext cx="13258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Sarabun"/>
              </a:rPr>
              <a:t>🤖 AI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8787" y="1554480"/>
            <a:ext cx="2286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6C757D"/>
                </a:solidFill>
                <a:latin typeface="Sarabun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87387" y="1554480"/>
            <a:ext cx="1325880" cy="8686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7387" y="1554480"/>
            <a:ext cx="13258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Sarabun"/>
              </a:rPr>
              <a:t>DB
(Supabase)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3267" y="1554480"/>
            <a:ext cx="2286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6C757D"/>
                </a:solidFill>
                <a:latin typeface="Sarabun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1867" y="1554480"/>
            <a:ext cx="1325880" cy="8686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1867" y="1554480"/>
            <a:ext cx="13258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Sarabun"/>
              </a:rPr>
              <a:t>Mobile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7747" y="1554480"/>
            <a:ext cx="22860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6C757D"/>
                </a:solidFill>
                <a:latin typeface="Sarabun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96347" y="1554480"/>
            <a:ext cx="1325880" cy="8686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96347" y="1554480"/>
            <a:ext cx="13258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Sarabun"/>
              </a:rPr>
              <a:t>Twilio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28803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B4D8"/>
                </a:solidFill>
                <a:latin typeface="Sarabun"/>
              </a:rPr>
              <a:t>ฟีเจอร์หลัก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246120"/>
            <a:ext cx="685800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0A2540"/>
                </a:solidFill>
                <a:latin typeface="Sarabun"/>
              </a:rPr>
              <a:t>✓  Real-time event streaming (Supabase realtime subscription)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0A2540"/>
                </a:solidFill>
                <a:latin typeface="Sarabun"/>
              </a:rPr>
              <a:t>✓  🤖 Smart Alert Agent — context-aware decision making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0A2540"/>
                </a:solidFill>
                <a:latin typeface="Sarabun"/>
              </a:rPr>
              <a:t>✓  Mobile push notification + acknowledge system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0A2540"/>
                </a:solidFill>
                <a:latin typeface="Sarabun"/>
              </a:rPr>
              <a:t>✓  Auto emergency call ผ่าน Twilio (เสียงจาก AI gen)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3108960"/>
            <a:ext cx="3840480" cy="3108960"/>
          </a:xfrm>
          <a:prstGeom prst="rect">
            <a:avLst/>
          </a:prstGeom>
          <a:solidFill>
            <a:srgbClr val="E9ECE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1">
                <a:solidFill>
                  <a:srgbClr val="6C757D"/>
                </a:solidFill>
                <a:latin typeface="Sarabun"/>
              </a:rPr>
              <a:t>[ Screenshot: Mobile app 2 หน้า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A2540"/>
                </a:solidFill>
                <a:latin typeface="Sarabun"/>
              </a:rPr>
              <a:t>🤖 AI Agent — Smart Alert Orchestrator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77824"/>
            <a:ext cx="2194560" cy="12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Sarabun"/>
              </a:rPr>
              <a:t>9 / 15 · CS423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B4D8"/>
                </a:solidFill>
                <a:latin typeface="Sarabun"/>
              </a:rPr>
              <a:t>Flow การทำงาน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48640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0A2540"/>
                </a:solidFill>
                <a:latin typeface="Sarabun"/>
              </a:rPr>
              <a:t>1.  LSTM detect fall (97.9%)</a:t>
            </a:r>
          </a:p>
          <a:p>
            <a:pPr algn="l">
              <a:lnSpc>
                <a:spcPct val="155000"/>
              </a:lnSpc>
            </a:pPr>
            <a:r>
              <a:rPr sz="1300" b="1" i="0">
                <a:solidFill>
                  <a:srgbClr val="0A2540"/>
                </a:solidFill>
                <a:latin typeface="Sarabun"/>
              </a:rPr>
              <a:t>2.  🤖 Claude Haiku วิเคราะห์ context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6C757D"/>
                </a:solidFill>
                <a:latin typeface="Sarabun"/>
              </a:rPr>
              <a:t>       •  เวลาปัจจุบัน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6C757D"/>
                </a:solidFill>
                <a:latin typeface="Sarabun"/>
              </a:rPr>
              <a:t>       •  Event history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6C757D"/>
                </a:solidFill>
                <a:latin typeface="Sarabun"/>
              </a:rPr>
              <a:t>       •  ผู้ดูแล / ความเร่งด่วน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0A2540"/>
                </a:solidFill>
                <a:latin typeface="Sarabun"/>
              </a:rPr>
              <a:t>3.  ตัดสินใจ: โทรใคร / ข้อความเสียง / timing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0A2540"/>
                </a:solidFill>
                <a:latin typeface="Sarabun"/>
              </a:rPr>
              <a:t>4.  Twilio โทรพร้อม personalized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B4D8"/>
                </a:solidFill>
                <a:latin typeface="Sarabun"/>
              </a:rPr>
              <a:t>ทำไมไม่ใช้ if-else?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508760"/>
          <a:ext cx="539496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65151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arabun"/>
                        </a:rPr>
                        <a:t>If-else (ระบบเดิม)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arabun"/>
                        </a:rPr>
                        <a:t>AI Agent (ของเรา)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65151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Rule ตายตัว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Context-aware</a:t>
                      </a:r>
                    </a:p>
                  </a:txBody>
                  <a:tcPr>
                    <a:solidFill>
                      <a:srgbClr val="D7EEE5"/>
                    </a:solidFill>
                  </a:tcPr>
                </a:tc>
              </a:tr>
              <a:tr h="65151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ข้อความเหมือนเดิมทุกเคส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Personalized</a:t>
                      </a:r>
                    </a:p>
                  </a:txBody>
                  <a:tcPr>
                    <a:solidFill>
                      <a:srgbClr val="D7EEE5"/>
                    </a:solidFill>
                  </a:tcPr>
                </a:tc>
              </a:tr>
              <a:tr h="65151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เพิ่ม rule = แก้โค้ด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ปรับด้วย prompt</a:t>
                      </a:r>
                    </a:p>
                  </a:txBody>
                  <a:tcPr>
                    <a:solidFill>
                      <a:srgbClr val="D7EEE5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0" y="4434840"/>
            <a:ext cx="5394960" cy="15544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Sarabun"/>
              </a:rPr>
              <a:t>ผลลัพธ์: ระบบยืดหยุ่น ปรับพฤติกรรมได้โดยไม่ต้อง redeploy และตอบสนองได้เหมาะกับสถานการณ์จริง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A2540"/>
                </a:solidFill>
                <a:latin typeface="Sarabun"/>
              </a:rPr>
              <a:t>Architecture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77824"/>
            <a:ext cx="2194560" cy="12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Sarabun"/>
              </a:rPr>
              <a:t>10 / 15 · CS423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10972800" cy="2286000"/>
          </a:xfrm>
          <a:prstGeom prst="rect">
            <a:avLst/>
          </a:prstGeom>
          <a:solidFill>
            <a:srgbClr val="E9ECE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1">
                <a:solidFill>
                  <a:srgbClr val="6C757D"/>
                </a:solidFill>
                <a:latin typeface="Sarabun"/>
              </a:rPr>
              <a:t>[ Architecture Diagram — ESP32 ×2 → Express API → FastAPI+LSTM / Claude Haiku Agent / Supabase / Twilio → React Native App 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611880"/>
          <a:ext cx="1097280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7924800"/>
              </a:tblGrid>
              <a:tr h="33718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arabun"/>
                        </a:rPr>
                        <a:t>Layer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arabun"/>
                        </a:rPr>
                        <a:t>Technology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33718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ESP32 ×2 (ESP-IDF, dual-mode AP+STA)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Communication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WiFi 802.11n, UDP, HTTPS, 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Backend /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Express.js, FastAPI, Render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Supabase (PostgreSQL + Realtime)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React Native + Expo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AI Agent (Runtime)</a:t>
                      </a:r>
                    </a:p>
                  </a:txBody>
                  <a:tcPr>
                    <a:solidFill>
                      <a:srgbClr val="FDE5C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Claude Haiku — Smart Alert Orchestrator</a:t>
                      </a:r>
                    </a:p>
                  </a:txBody>
                  <a:tcPr>
                    <a:solidFill>
                      <a:srgbClr val="FDE5CC"/>
                    </a:solidFill>
                  </a:tcPr>
                </a:tc>
              </a:tr>
              <a:tr h="33718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AI Agent (Dev Tool)</a:t>
                      </a:r>
                    </a:p>
                  </a:txBody>
                  <a:tcPr>
                    <a:solidFill>
                      <a:srgbClr val="FDE5C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Claude Code — พัฒนา codebase</a:t>
                      </a:r>
                    </a:p>
                  </a:txBody>
                  <a:tcPr>
                    <a:solidFill>
                      <a:srgbClr val="FDE5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A2540"/>
                </a:solidFill>
                <a:latin typeface="Sarabun"/>
              </a:rPr>
              <a:t>🔴 LIVE DEMO — Platform End-to-End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77824"/>
            <a:ext cx="2194560" cy="12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Sarabun"/>
              </a:rPr>
              <a:t>11 / 15 · CS423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4572000" cy="4206240"/>
          </a:xfrm>
          <a:prstGeom prst="rect">
            <a:avLst/>
          </a:prstGeom>
          <a:solidFill>
            <a:srgbClr val="E9ECE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1">
                <a:solidFill>
                  <a:srgbClr val="6C757D"/>
                </a:solidFill>
                <a:latin typeface="Sarabun"/>
              </a:rPr>
              <a:t>[ Screenshot: Mobile app
หน้า notification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188720"/>
            <a:ext cx="61264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5000"/>
              </a:lnSpc>
            </a:pPr>
            <a:r>
              <a:rPr sz="1400" b="0" i="0">
                <a:solidFill>
                  <a:srgbClr val="0A2540"/>
                </a:solidFill>
                <a:latin typeface="Sarabun"/>
              </a:rPr>
              <a:t>①  จำลองล้มหน้า ESP32</a:t>
            </a:r>
          </a:p>
          <a:p>
            <a:pPr algn="l">
              <a:lnSpc>
                <a:spcPct val="165000"/>
              </a:lnSpc>
            </a:pPr>
            <a:r>
              <a:rPr sz="1400" b="0" i="0">
                <a:solidFill>
                  <a:srgbClr val="0A2540"/>
                </a:solidFill>
                <a:latin typeface="Sarabun"/>
              </a:rPr>
              <a:t>②  UDP → API (latency &lt; 100ms)</a:t>
            </a:r>
          </a:p>
          <a:p>
            <a:pPr algn="l">
              <a:lnSpc>
                <a:spcPct val="165000"/>
              </a:lnSpc>
            </a:pPr>
            <a:r>
              <a:rPr sz="1400" b="0" i="0">
                <a:solidFill>
                  <a:srgbClr val="0A2540"/>
                </a:solidFill>
                <a:latin typeface="Sarabun"/>
              </a:rPr>
              <a:t>③  LSTM classify → fall (98% confidence)</a:t>
            </a:r>
          </a:p>
          <a:p>
            <a:pPr algn="l">
              <a:lnSpc>
                <a:spcPct val="165000"/>
              </a:lnSpc>
            </a:pPr>
            <a:r>
              <a:rPr sz="1400" b="0" i="0">
                <a:solidFill>
                  <a:srgbClr val="0A2540"/>
                </a:solidFill>
                <a:latin typeface="Sarabun"/>
              </a:rPr>
              <a:t>④  🤖 AI Agent วิเคราะห์ + ตัดสินใจ</a:t>
            </a:r>
          </a:p>
          <a:p>
            <a:pPr algn="l">
              <a:lnSpc>
                <a:spcPct val="165000"/>
              </a:lnSpc>
            </a:pPr>
            <a:r>
              <a:rPr sz="1400" b="0" i="0">
                <a:solidFill>
                  <a:srgbClr val="0A2540"/>
                </a:solidFill>
                <a:latin typeface="Sarabun"/>
              </a:rPr>
              <a:t>⑤  Mobile app ขึ้น notification ทันที</a:t>
            </a:r>
          </a:p>
          <a:p>
            <a:pPr algn="l">
              <a:lnSpc>
                <a:spcPct val="165000"/>
              </a:lnSpc>
            </a:pPr>
            <a:r>
              <a:rPr sz="1400" b="0" i="0">
                <a:solidFill>
                  <a:srgbClr val="0A2540"/>
                </a:solidFill>
                <a:latin typeface="Sarabun"/>
              </a:rPr>
              <a:t>⑥  ไม่กดยืนยัน 30 วิ → Twilio โทรจริง พร้อมเสียงที่ AI 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06A77D"/>
                </a:solidFill>
                <a:latin typeface="Sarabun"/>
              </a:rPr>
              <a:t>Latency รวม end-to-end: &lt; 1 วินาที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A2540"/>
                </a:solidFill>
                <a:latin typeface="Sarabun"/>
              </a:rPr>
              <a:t>ผลการทำงานของระบบ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77824"/>
            <a:ext cx="2194560" cy="12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Sarabun"/>
              </a:rPr>
              <a:t>12 / 15 · CS423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36118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36118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06A77D"/>
                </a:solidFill>
                <a:latin typeface="Sarabun"/>
              </a:rPr>
              <a:t>&lt; 1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3611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0A2540"/>
                </a:solidFill>
                <a:latin typeface="Sarabun"/>
              </a:rPr>
              <a:t>Latency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280160"/>
            <a:ext cx="36118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9392" y="1600200"/>
            <a:ext cx="36118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06A77D"/>
                </a:solidFill>
                <a:latin typeface="Sarabun"/>
              </a:rPr>
              <a:t>100/s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2743200"/>
            <a:ext cx="3611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0A2540"/>
                </a:solidFill>
                <a:latin typeface="Sarabun"/>
              </a:rPr>
              <a:t>Throughput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5864" y="1280160"/>
            <a:ext cx="36118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55864" y="1600200"/>
            <a:ext cx="36118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06A77D"/>
                </a:solidFill>
                <a:latin typeface="Sarabun"/>
              </a:rPr>
              <a:t>24h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743200"/>
            <a:ext cx="3611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0A2540"/>
                </a:solidFill>
                <a:latin typeface="Sarabun"/>
              </a:rPr>
              <a:t>Uptime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47872"/>
            <a:ext cx="36118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67912"/>
            <a:ext cx="36118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06A77D"/>
                </a:solidFill>
                <a:latin typeface="Sarabun"/>
              </a:rPr>
              <a:t>97.9%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010912"/>
            <a:ext cx="3611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0A2540"/>
                </a:solidFill>
                <a:latin typeface="Sarabun"/>
              </a:rPr>
              <a:t>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9392" y="3547872"/>
            <a:ext cx="36118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9392" y="3867912"/>
            <a:ext cx="36118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06A77D"/>
                </a:solidFill>
                <a:latin typeface="Sarabun"/>
              </a:rPr>
              <a:t>98.5%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9392" y="5010912"/>
            <a:ext cx="3611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0A2540"/>
                </a:solidFill>
                <a:latin typeface="Sarabun"/>
              </a:rPr>
              <a:t>Fall Recall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55864" y="3547872"/>
            <a:ext cx="36118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3867912"/>
            <a:ext cx="36118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06A77D"/>
                </a:solidFill>
                <a:latin typeface="Sarabun"/>
              </a:rPr>
              <a:t>&lt; 800ms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5010912"/>
            <a:ext cx="3611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0A2540"/>
                </a:solidFill>
                <a:latin typeface="Sarabun"/>
              </a:rPr>
              <a:t>AI Agent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6C757D"/>
                </a:solidFill>
                <a:latin typeface="Sarabun"/>
              </a:rPr>
              <a:t>Dataset: 1,260 windows · เก็บจาก ESP32 จริงทั้งหมด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A2540"/>
                </a:solidFill>
                <a:latin typeface="Sarabun"/>
              </a:rPr>
              <a:t>ทำไม Hardware น้อย?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77824"/>
            <a:ext cx="2194560" cy="12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Sarabun"/>
              </a:rPr>
              <a:t>13 / 15 · CS423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B4D8"/>
                </a:solidFill>
                <a:latin typeface="Sarabun"/>
              </a:rPr>
              <a:t>RF Sensing vs Sensor Array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08760"/>
          <a:ext cx="1097279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892"/>
                <a:gridCol w="3938953"/>
                <a:gridCol w="3938953"/>
              </a:tblGrid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arabun"/>
                        </a:rPr>
                        <a:t/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arabun"/>
                        </a:rPr>
                        <a:t>Sensor Array (ทั่วไป)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arabun"/>
                        </a:rPr>
                        <a:t>RF Sensing (เรา) ✓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จำนวนอุปกรณ์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5-10 ตัว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2 ตัว</a:t>
                      </a:r>
                    </a:p>
                  </a:txBody>
                  <a:tcPr>
                    <a:solidFill>
                      <a:srgbClr val="D7EEE5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ติดตั้ง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หลายจุดในห้อง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มุมเดียว</a:t>
                      </a:r>
                    </a:p>
                  </a:txBody>
                  <a:tcPr>
                    <a:solidFill>
                      <a:srgbClr val="D7EEE5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Protocol stack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I2C/SPI → MCU → WiFi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WiFi ทุก layer</a:t>
                      </a:r>
                    </a:p>
                  </a:txBody>
                  <a:tcPr>
                    <a:solidFill>
                      <a:srgbClr val="D7EEE5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ครอบคลุม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จำกัดตามจุดที่วาง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ทั้งห้อง</a:t>
                      </a:r>
                    </a:p>
                  </a:txBody>
                  <a:tcPr>
                    <a:solidFill>
                      <a:srgbClr val="D7EEE5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Wiring +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A2540"/>
                          </a:solidFill>
                          <a:latin typeface="Sarabun"/>
                        </a:rPr>
                        <a:t>Network + Real-time + AI</a:t>
                      </a:r>
                    </a:p>
                  </a:txBody>
                  <a:tcPr>
                    <a:solidFill>
                      <a:srgbClr val="D7EEE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4572000"/>
            <a:ext cx="10972800" cy="169164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>
              <a:lnSpc>
                <a:spcPct val="150000"/>
              </a:lnSpc>
            </a:pPr>
            <a:r>
              <a:rPr sz="1800" b="1" i="0">
                <a:solidFill>
                  <a:srgbClr val="FFFFFF"/>
                </a:solidFill>
                <a:latin typeface="Sarabun"/>
              </a:rPr>
              <a:t>💡  Hardware น้อย ≠ ง่าย</a:t>
            </a:r>
          </a:p>
          <a:p>
            <a:pPr algn="ctr">
              <a:lnSpc>
                <a:spcPct val="150000"/>
              </a:lnSpc>
            </a:pPr>
            <a:r>
              <a:rPr sz="1800" b="1" i="0">
                <a:solidFill>
                  <a:srgbClr val="FFFFFF"/>
                </a:solidFill>
                <a:latin typeface="Sarabun"/>
              </a:rPr>
              <a:t>Complexity ย้ายไปอยู่ที่ Network Protocol Stack + AI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4300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0A2540"/>
                </a:solidFill>
                <a:latin typeface="Sarabun"/>
              </a:rPr>
              <a:t>Tech Stack +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77824"/>
            <a:ext cx="2194560" cy="12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Sarabun"/>
              </a:rPr>
              <a:t>14 / 15 · CS423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10972800" cy="2194560"/>
          </a:xfrm>
          <a:prstGeom prst="rect">
            <a:avLst/>
          </a:prstGeom>
          <a:solidFill>
            <a:srgbClr val="12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972800" cy="2194560"/>
          </a:xfrm>
          <a:prstGeom prst="rect">
            <a:avLst/>
          </a:prstGeom>
          <a:noFill/>
        </p:spPr>
        <p:txBody>
          <a:bodyPr wrap="square" lIns="182880" rIns="182880" tIns="137160" bIns="13716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7EE0C4"/>
                </a:solidFill>
                <a:latin typeface="Consolas"/>
              </a:rPr>
              <a:t>Firmware       ESP-IDF + C (dual-mode AP+STA, CSI extraction)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7EE0C4"/>
                </a:solidFill>
                <a:latin typeface="Consolas"/>
              </a:rPr>
              <a:t>Networking     WiFi 802.11n + UDP streaming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7EE0C4"/>
                </a:solidFill>
                <a:latin typeface="Consolas"/>
              </a:rPr>
              <a:t>Database       Supabase (PostgreSQL + Realtime)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7EE0C4"/>
                </a:solidFill>
                <a:latin typeface="Consolas"/>
              </a:rPr>
              <a:t>Frontend       React Native + Expo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7EE0C4"/>
                </a:solidFill>
                <a:latin typeface="Consolas"/>
              </a:rPr>
              <a:t>Telecom        Twilio Voice API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F77F00"/>
                </a:solidFill>
                <a:latin typeface="Consolas"/>
              </a:rPr>
              <a:t>AI Runtime     Claude Haiku — Smart Alert Agent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F77F00"/>
                </a:solidFill>
                <a:latin typeface="Consolas"/>
              </a:rPr>
              <a:t>AI Dev Tool    Claude Code — boilerplate + debugging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B4D8"/>
                </a:solidFill>
                <a:latin typeface="Sarabun"/>
              </a:rPr>
              <a:t>ปัญหา + วิธีแก้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548640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0A2540"/>
                </a:solidFill>
                <a:latin typeface="Sarabun"/>
              </a:rPr>
              <a:t>•  UDP packet loss → sliding window + stride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0A2540"/>
                </a:solidFill>
                <a:latin typeface="Sarabun"/>
              </a:rPr>
              <a:t>•  IP เปลี่ยนตอน hotspot reconnect → hardcode IP firmware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0A2540"/>
                </a:solidFill>
                <a:latin typeface="Sarabun"/>
              </a:rPr>
              <a:t>•  Mobile cold-start lag → Supabase realtime subscription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0A2540"/>
                </a:solidFill>
                <a:latin typeface="Sarabun"/>
              </a:rPr>
              <a:t>•  AI Agent latency → ใช้ prompt caching ลด 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204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B4D8"/>
                </a:solidFill>
                <a:latin typeface="Sarabun"/>
              </a:rP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886200"/>
            <a:ext cx="521208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0A2540"/>
                </a:solidFill>
                <a:latin typeface="Sarabun"/>
              </a:rPr>
              <a:t>🔧  BLE Provisioning — ลูกค้าตั้ง WiFi เอง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0A2540"/>
                </a:solidFill>
                <a:latin typeface="Sarabun"/>
              </a:rPr>
              <a:t>🏠  Multi-room ESP32 mesh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0A2540"/>
                </a:solidFill>
                <a:latin typeface="Sarabun"/>
              </a:rPr>
              <a:t>🎯  On-device inference บน ESP32-S3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0A2540"/>
                </a:solidFill>
                <a:latin typeface="Sarabun"/>
              </a:rPr>
              <a:t>🤖  Voice Conversation Agent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0A2540"/>
                </a:solidFill>
                <a:latin typeface="Sarabun"/>
              </a:rPr>
              <a:t>💼  Business: บริการบ้านพักคนชรา ~600฿/บ้าน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2024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 i="0">
                <a:solidFill>
                  <a:srgbClr val="0A2540"/>
                </a:solidFill>
                <a:latin typeface="Sarabun"/>
              </a:rPr>
              <a:t>ขอบคุณครับ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0047" y="3063240"/>
            <a:ext cx="1371600" cy="15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0" i="1">
                <a:solidFill>
                  <a:srgbClr val="00B4D8"/>
                </a:solidFill>
                <a:latin typeface="Sarabun"/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047" y="4206240"/>
            <a:ext cx="1554480" cy="1554480"/>
          </a:xfrm>
          <a:prstGeom prst="rect">
            <a:avLst/>
          </a:prstGeom>
          <a:solidFill>
            <a:srgbClr val="E9ECE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1">
                <a:solidFill>
                  <a:srgbClr val="6C757D"/>
                </a:solidFill>
                <a:latin typeface="Sarabun"/>
              </a:rPr>
              <a:t>[ QR
GitHub Repo ]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4206240"/>
            <a:ext cx="1554480" cy="1554480"/>
          </a:xfrm>
          <a:prstGeom prst="rect">
            <a:avLst/>
          </a:prstGeom>
          <a:solidFill>
            <a:srgbClr val="E9ECE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1">
                <a:solidFill>
                  <a:srgbClr val="6C757D"/>
                </a:solidFill>
                <a:latin typeface="Sarabun"/>
              </a:rPr>
              <a:t>[ QR
Demo Video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C757D"/>
                </a:solidFill>
                <a:latin typeface="Sarabun"/>
              </a:rPr>
              <a:t>[ ใส่ email ติดต่อทีม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C757D"/>
                </a:solidFill>
                <a:latin typeface="Sarabun"/>
              </a:rPr>
              <a:t>15 / 15 · CS423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