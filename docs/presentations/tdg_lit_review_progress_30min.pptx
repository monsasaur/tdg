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03720" y="0"/>
            <a:ext cx="5303520" cy="685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92608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E63946"/>
                </a:solidFill>
                <a:latin typeface="Aptos"/>
              </a:rPr>
              <a:t>ภาพรวม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92608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775"/>
                </a:solidFill>
                <a:latin typeface="Aptos"/>
              </a:rPr>
              <a:t>01/25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68680"/>
            <a:ext cx="59436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500" b="1">
                <a:solidFill>
                  <a:srgbClr val="FFFFFF"/>
                </a:solidFill>
                <a:latin typeface="Thonburi"/>
              </a:rPr>
              <a:t>Middle
ระบบตรวจจับการล้มด้วย WiFi CSI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2487168"/>
            <a:ext cx="5577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DCE5EF"/>
                </a:solidFill>
                <a:latin typeface="Thonburi"/>
              </a:rPr>
              <a:t>ตั้งแต่ปัญหา งานวิจัยที่เกี่ยวข้อง ไปจนถึง prototype ที่ทำแล้ว</a:t>
            </a:r>
          </a:p>
        </p:txBody>
      </p:sp>
      <p:sp>
        <p:nvSpPr>
          <p:cNvPr id="8" name="Rectangle 7"/>
          <p:cNvSpPr/>
          <p:nvPr/>
        </p:nvSpPr>
        <p:spPr>
          <a:xfrm>
            <a:off x="694944" y="3246120"/>
            <a:ext cx="1325880" cy="7315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3657600"/>
            <a:ext cx="5212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Thonburi"/>
              </a:rPr>
              <a:t>เวลา 30 นาที รวมถามตอบ
พรี 24 นาที + Q&amp;A 6 นาที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960120"/>
            <a:ext cx="3246120" cy="4892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41080" y="1417320"/>
            <a:ext cx="1143000" cy="1143000"/>
          </a:xfrm>
          <a:prstGeom prst="ellipse">
            <a:avLst/>
          </a:prstGeom>
          <a:solidFill>
            <a:srgbClr val="F7C8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9217152" y="2560320"/>
            <a:ext cx="0" cy="1097280"/>
          </a:xfrm>
          <a:prstGeom prst="line">
            <a:avLst/>
          </a:prstGeom>
          <a:ln w="50800">
            <a:solidFill>
              <a:srgbClr val="1B23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8641080" y="2971800"/>
            <a:ext cx="576072" cy="457200"/>
          </a:xfrm>
          <a:prstGeom prst="line">
            <a:avLst/>
          </a:prstGeom>
          <a:ln w="38100">
            <a:solidFill>
              <a:srgbClr val="1B23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217152" y="2971800"/>
            <a:ext cx="585216" cy="457200"/>
          </a:xfrm>
          <a:prstGeom prst="line">
            <a:avLst/>
          </a:prstGeom>
          <a:ln w="38100">
            <a:solidFill>
              <a:srgbClr val="1B23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092440" y="4434840"/>
            <a:ext cx="2331720" cy="676656"/>
          </a:xfrm>
          <a:prstGeom prst="roundRect">
            <a:avLst/>
          </a:prstGeom>
          <a:solidFill>
            <a:srgbClr val="FF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4608576"/>
            <a:ext cx="196596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AE2334"/>
                </a:solidFill>
                <a:latin typeface="Aptos"/>
              </a:rPr>
              <a:t>FALL ALERT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5504688"/>
            <a:ext cx="2971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5B6775"/>
                </a:solidFill>
                <a:latin typeface="Aptos"/>
              </a:rPr>
              <a:t>Middle / TDG Project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6428232"/>
            <a:ext cx="11045952" cy="9144"/>
          </a:xfrm>
          <a:prstGeom prst="rect">
            <a:avLst/>
          </a:prstGeom>
          <a:solidFill>
            <a:srgbClr val="DE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55480" y="6501384"/>
            <a:ext cx="2057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>
                <a:solidFill>
                  <a:srgbClr val="5B6775"/>
                </a:solidFill>
                <a:latin typeface="Aptos"/>
              </a:rPr>
              <a:t>0:00 - 0:40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E63946"/>
                </a:solidFill>
                <a:latin typeface="Aptos"/>
              </a:rPr>
              <a:t>ลำดับการนำเสนอ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92608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775"/>
                </a:solidFill>
                <a:latin typeface="Aptos"/>
              </a:rPr>
              <a:t>02/25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6692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B232E"/>
                </a:solidFill>
                <a:latin typeface="Thonburi"/>
              </a:rPr>
              <a:t>วันนี้จะตอบ 4 คำถามหลัก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371600"/>
            <a:ext cx="10607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B6775"/>
                </a:solidFill>
                <a:latin typeface="Thonburi"/>
              </a:rPr>
              <a:t>ปัญหาคืออะไร ทำไมวิธีเดิมยังไม่พอ ทำไมเลือก WiFi CSI และตอนนี้ทำถึงไหนแล้ว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039112"/>
            <a:ext cx="1856231" cy="2514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34439" y="2340864"/>
            <a:ext cx="804672" cy="804672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39" y="2578608"/>
            <a:ext cx="804672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3337560"/>
            <a:ext cx="1600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B232E"/>
                </a:solidFill>
                <a:latin typeface="Thonburi"/>
              </a:rPr>
              <a:t>Pain 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703320"/>
            <a:ext cx="157276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B6775"/>
                </a:solidFill>
                <a:latin typeface="Thonburi"/>
              </a:rPr>
              <a:t>ทำไม fall detection สำคัญ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4270248"/>
            <a:ext cx="148132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>
                <a:solidFill>
                  <a:srgbClr val="E63946"/>
                </a:solidFill>
                <a:latin typeface="Aptos"/>
              </a:rPr>
              <a:t>1:10-3:30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69463" y="3291840"/>
            <a:ext cx="292609" cy="0"/>
          </a:xfrm>
          <a:prstGeom prst="line">
            <a:avLst/>
          </a:prstGeom>
          <a:ln w="25400">
            <a:solidFill>
              <a:srgbClr val="B8C2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039112"/>
            <a:ext cx="1856231" cy="2514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02151" y="2340864"/>
            <a:ext cx="804672" cy="804672"/>
          </a:xfrm>
          <a:prstGeom prst="ellipse">
            <a:avLst/>
          </a:prstGeom>
          <a:solidFill>
            <a:srgbClr val="2E6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02151" y="2578608"/>
            <a:ext cx="804672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337560"/>
            <a:ext cx="1600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B232E"/>
                </a:solidFill>
                <a:latin typeface="Thonburi"/>
              </a:rPr>
              <a:t>Lit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27248" y="3703320"/>
            <a:ext cx="157276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B6775"/>
                </a:solidFill>
                <a:latin typeface="Thonburi"/>
              </a:rPr>
              <a:t>ข้อจำกัดของ camera / wearable / SOS และงาน WiFi CSI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63824" y="4270248"/>
            <a:ext cx="148132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>
                <a:solidFill>
                  <a:srgbClr val="2E66D6"/>
                </a:solidFill>
                <a:latin typeface="Aptos"/>
              </a:rPr>
              <a:t>3:30-12:20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37175" y="3291840"/>
            <a:ext cx="292609" cy="0"/>
          </a:xfrm>
          <a:prstGeom prst="line">
            <a:avLst/>
          </a:prstGeom>
          <a:ln w="25400">
            <a:solidFill>
              <a:srgbClr val="B8C2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248656" y="2039112"/>
            <a:ext cx="1856231" cy="2514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769863" y="2340864"/>
            <a:ext cx="804672" cy="804672"/>
          </a:xfrm>
          <a:prstGeom prst="ellipse">
            <a:avLst/>
          </a:prstGeom>
          <a:solidFill>
            <a:srgbClr val="008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9863" y="2578608"/>
            <a:ext cx="804672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76672" y="3337560"/>
            <a:ext cx="1600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B232E"/>
                </a:solidFill>
                <a:latin typeface="Thonburi"/>
              </a:rPr>
              <a:t>Solution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60" y="3703320"/>
            <a:ext cx="157276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B6775"/>
                </a:solidFill>
                <a:latin typeface="Thonburi"/>
              </a:rPr>
              <a:t>สถาปัตยกรรมระบบ Middle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31536" y="4270248"/>
            <a:ext cx="148132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>
                <a:solidFill>
                  <a:srgbClr val="008E82"/>
                </a:solidFill>
                <a:latin typeface="Aptos"/>
              </a:rPr>
              <a:t>12:20-18:00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104887" y="3291840"/>
            <a:ext cx="292609" cy="0"/>
          </a:xfrm>
          <a:prstGeom prst="line">
            <a:avLst/>
          </a:prstGeom>
          <a:ln w="25400">
            <a:solidFill>
              <a:srgbClr val="B8C2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516367" y="2039112"/>
            <a:ext cx="1856231" cy="2514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37574" y="2340864"/>
            <a:ext cx="804672" cy="804672"/>
          </a:xfrm>
          <a:prstGeom prst="ellipse">
            <a:avLst/>
          </a:prstGeom>
          <a:solidFill>
            <a:srgbClr val="249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37574" y="2578608"/>
            <a:ext cx="804672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44383" y="3337560"/>
            <a:ext cx="1600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B232E"/>
                </a:solidFill>
                <a:latin typeface="Thonburi"/>
              </a:rPr>
              <a:t>Progress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62671" y="3703320"/>
            <a:ext cx="157276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B6775"/>
                </a:solidFill>
                <a:latin typeface="Thonburi"/>
              </a:rPr>
              <a:t>ทำอะไรเสร็จแล้ว, ยังเสี่ยงตรงไหน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99247" y="4270248"/>
            <a:ext cx="148132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>
                <a:solidFill>
                  <a:srgbClr val="249656"/>
                </a:solidFill>
                <a:latin typeface="Aptos"/>
              </a:rPr>
              <a:t>18:00-24:00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372598" y="3291840"/>
            <a:ext cx="292609" cy="0"/>
          </a:xfrm>
          <a:prstGeom prst="line">
            <a:avLst/>
          </a:prstGeom>
          <a:ln w="25400">
            <a:solidFill>
              <a:srgbClr val="B8C2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784080" y="2039112"/>
            <a:ext cx="1856231" cy="2514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305287" y="2340864"/>
            <a:ext cx="804672" cy="804672"/>
          </a:xfrm>
          <a:prstGeom prst="ellipse">
            <a:avLst/>
          </a:prstGeom>
          <a:solidFill>
            <a:srgbClr val="EE9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305287" y="2578608"/>
            <a:ext cx="804672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12096" y="3337560"/>
            <a:ext cx="1600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B232E"/>
                </a:solidFill>
                <a:latin typeface="Thonburi"/>
              </a:rPr>
              <a:t>Q&amp;A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30384" y="3703320"/>
            <a:ext cx="157276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5B6775"/>
                </a:solidFill>
                <a:latin typeface="Thonburi"/>
              </a:rPr>
              <a:t>ถามตอบและ references สำรอง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66960" y="4270248"/>
            <a:ext cx="148132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>
                <a:solidFill>
                  <a:srgbClr val="EE9930"/>
                </a:solidFill>
                <a:latin typeface="Aptos"/>
              </a:rPr>
              <a:t>24:00-30:00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78992" y="5212080"/>
            <a:ext cx="10012680" cy="658368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325880" y="5376672"/>
            <a:ext cx="950976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Thonburi"/>
              </a:rPr>
              <a:t>แกนกลางของคำตอบ: งานวิจัยบอกว่า WiFi CSI มี promise แต่ challenge คือ real-world generalization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" y="6428232"/>
            <a:ext cx="11045952" cy="9144"/>
          </a:xfrm>
          <a:prstGeom prst="rect">
            <a:avLst/>
          </a:prstGeom>
          <a:solidFill>
            <a:srgbClr val="DE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55480" y="6501384"/>
            <a:ext cx="2057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>
                <a:solidFill>
                  <a:srgbClr val="5B6775"/>
                </a:solidFill>
                <a:latin typeface="Aptos"/>
              </a:rPr>
              <a:t>0:40 - 1:10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E63946"/>
                </a:solidFill>
                <a:latin typeface="Aptos"/>
              </a:rPr>
              <a:t>ปัญหา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92608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775"/>
                </a:solidFill>
                <a:latin typeface="Aptos"/>
              </a:rPr>
              <a:t>03/25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6692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B232E"/>
                </a:solidFill>
                <a:latin typeface="Thonburi"/>
              </a:rPr>
              <a:t>ปัญหาหลักคือการรู้ช้าเมื่อผู้สูงอายุล้ม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371600"/>
            <a:ext cx="10607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B6775"/>
                </a:solidFill>
                <a:latin typeface="Thonburi"/>
              </a:rPr>
              <a:t>การล้มมีผลต่อชีวิต การรักษา และความกังวลของผู้ดูแล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1828800"/>
            <a:ext cx="224028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965960"/>
            <a:ext cx="22402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300" b="1">
                <a:solidFill>
                  <a:srgbClr val="E63946"/>
                </a:solidFill>
                <a:latin typeface="Aptos"/>
              </a:rPr>
              <a:t>684k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350007"/>
            <a:ext cx="20574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0">
                <a:solidFill>
                  <a:srgbClr val="5B6775"/>
                </a:solidFill>
                <a:latin typeface="Thonburi"/>
              </a:rPr>
              <a:t>เสียชีวิตจากการล้มต่อปีทั่วโลก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828800"/>
            <a:ext cx="224028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965960"/>
            <a:ext cx="22402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300" b="1">
                <a:solidFill>
                  <a:srgbClr val="2E66D6"/>
                </a:solidFill>
                <a:latin typeface="Aptos"/>
              </a:rPr>
              <a:t>37.3M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350007"/>
            <a:ext cx="20574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0">
                <a:solidFill>
                  <a:srgbClr val="5B6775"/>
                </a:solidFill>
                <a:latin typeface="Thonburi"/>
              </a:rPr>
              <a:t>ล้มรุนแรงพอให้ต้องพบแพทย์ต่อปี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97880" y="1828800"/>
            <a:ext cx="224028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97880" y="1965960"/>
            <a:ext cx="22402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300" b="1">
                <a:solidFill>
                  <a:srgbClr val="008E82"/>
                </a:solidFill>
                <a:latin typeface="Aptos"/>
              </a:rPr>
              <a:t>1 in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2350007"/>
            <a:ext cx="20574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0">
                <a:solidFill>
                  <a:srgbClr val="5B6775"/>
                </a:solidFill>
                <a:latin typeface="Thonburi"/>
              </a:rPr>
              <a:t>ผู้สูงอายุ 65+ ในสหรัฐฯ ล้มทุกปี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58200" y="1828800"/>
            <a:ext cx="224028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1965960"/>
            <a:ext cx="22402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300" b="1">
                <a:solidFill>
                  <a:srgbClr val="EE9930"/>
                </a:solidFill>
                <a:latin typeface="Aptos"/>
              </a:rPr>
              <a:t>3M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2350007"/>
            <a:ext cx="20574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0">
                <a:solidFill>
                  <a:srgbClr val="5B6775"/>
                </a:solidFill>
                <a:latin typeface="Thonburi"/>
              </a:rPr>
              <a:t>ED visits ต่อปีจาก falls ในผู้สูงอายุ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" y="3657600"/>
            <a:ext cx="1069848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" y="391363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B232E"/>
                </a:solidFill>
                <a:latin typeface="Thonburi"/>
              </a:rPr>
              <a:t>Pain point ของ caregiver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78992" y="4425696"/>
            <a:ext cx="64008" cy="16459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61872" y="4315968"/>
            <a:ext cx="9692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5B6775"/>
                </a:solidFill>
                <a:latin typeface="Thonburi"/>
              </a:rPr>
              <a:t>ถ้าไม่มีคนเห็น เหตุการณ์หนึ่งอาจกลายเป็น long lie และ delayed treatment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78992" y="4736592"/>
            <a:ext cx="64008" cy="16459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61872" y="4626864"/>
            <a:ext cx="9692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5B6775"/>
                </a:solidFill>
                <a:latin typeface="Thonburi"/>
              </a:rPr>
              <a:t>ระบบที่ต้องให้ผู้สูงอายุกดเองมี failure mode สำคัญ: หมดสติ เจ็บ หรือเอื้อมไม่ถึง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78992" y="5047488"/>
            <a:ext cx="64008" cy="16459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61872" y="4937760"/>
            <a:ext cx="9692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5B6775"/>
                </a:solidFill>
                <a:latin typeface="Thonburi"/>
              </a:rPr>
              <a:t>ครอบครัวต้องการ alert ที่เร็ว แต่ต้องลด false alarm จนไม่รบกวนชีวิตประจำวัน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" y="6144768"/>
            <a:ext cx="10972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" b="0">
                <a:solidFill>
                  <a:srgbClr val="5B6775"/>
                </a:solidFill>
                <a:latin typeface="Thonburi"/>
              </a:rPr>
              <a:t>ที่มา: WHO Falls fact sheet, 2021; CDC Facts About Falls, 2026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6428232"/>
            <a:ext cx="11045952" cy="9144"/>
          </a:xfrm>
          <a:prstGeom prst="rect">
            <a:avLst/>
          </a:prstGeom>
          <a:solidFill>
            <a:srgbClr val="DE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55480" y="6501384"/>
            <a:ext cx="2057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>
                <a:solidFill>
                  <a:srgbClr val="5B6775"/>
                </a:solidFill>
                <a:latin typeface="Aptos"/>
              </a:rPr>
              <a:t>1:10 - 2:20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E63946"/>
                </a:solidFill>
                <a:latin typeface="Aptos"/>
              </a:rPr>
              <a:t>โจทย์ออกแบบ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92608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775"/>
                </a:solidFill>
                <a:latin typeface="Aptos"/>
              </a:rPr>
              <a:t>04/25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6692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B232E"/>
                </a:solidFill>
                <a:latin typeface="Thonburi"/>
              </a:rPr>
              <a:t>ระบบที่เหมาะกับบ้านต้องไม่เพิ่มภาระให้ผู้สูงอายุ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371600"/>
            <a:ext cx="10607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B6775"/>
                </a:solidFill>
                <a:latin typeface="Thonburi"/>
              </a:rPr>
              <a:t>จึงต้อง passive, privacy-first, real-time และมีแผนสำรองเมื่อไม่มีคนตอบรับ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874519"/>
            <a:ext cx="324612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874519"/>
            <a:ext cx="73152" cy="11430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29967"/>
            <a:ext cx="29169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B232E"/>
                </a:solidFill>
                <a:latin typeface="Thonburi"/>
              </a:rPr>
              <a:t>Passive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86583"/>
            <a:ext cx="28620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30" b="0">
                <a:solidFill>
                  <a:srgbClr val="5B6775"/>
                </a:solidFill>
                <a:latin typeface="Thonburi"/>
              </a:rPr>
              <a:t>ผู้สูงอายุไม่ต้องกดปุ่ม ไม่ต้องจำใส่อุปกรณ์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74519"/>
            <a:ext cx="324612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26280" y="1874519"/>
            <a:ext cx="73152" cy="1143000"/>
          </a:xfrm>
          <a:prstGeom prst="rect">
            <a:avLst/>
          </a:prstGeom>
          <a:solidFill>
            <a:srgbClr val="2E6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7448" y="2029967"/>
            <a:ext cx="29169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B232E"/>
                </a:solidFill>
                <a:latin typeface="Thonburi"/>
              </a:rPr>
              <a:t>Privacy-first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2386583"/>
            <a:ext cx="28620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30" b="0">
                <a:solidFill>
                  <a:srgbClr val="5B6775"/>
                </a:solidFill>
                <a:latin typeface="Thonburi"/>
              </a:rPr>
              <a:t>ไม่เก็บภาพหรือเสียงละเอียดในพื้นที่ส่วนตัว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39327" y="1874519"/>
            <a:ext cx="324612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39327" y="1874519"/>
            <a:ext cx="73152" cy="1143000"/>
          </a:xfrm>
          <a:prstGeom prst="rect">
            <a:avLst/>
          </a:prstGeom>
          <a:solidFill>
            <a:srgbClr val="008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0495" y="2029967"/>
            <a:ext cx="29169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B232E"/>
                </a:solidFill>
                <a:latin typeface="Thonburi"/>
              </a:rPr>
              <a:t>Real-time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0495" y="2386583"/>
            <a:ext cx="28620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30" b="0">
                <a:solidFill>
                  <a:srgbClr val="5B6775"/>
                </a:solidFill>
                <a:latin typeface="Thonburi"/>
              </a:rPr>
              <a:t>แจ้งเตือนภายในหลักวินาที ไม่ใช่หลังตรวจย้อนหลัง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3447287"/>
            <a:ext cx="507492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" y="3447287"/>
            <a:ext cx="73152" cy="1143000"/>
          </a:xfrm>
          <a:prstGeom prst="rect">
            <a:avLst/>
          </a:prstGeom>
          <a:solidFill>
            <a:srgbClr val="EE9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602735"/>
            <a:ext cx="47457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B232E"/>
                </a:solidFill>
                <a:latin typeface="Thonburi"/>
              </a:rPr>
              <a:t>Escalation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959351"/>
            <a:ext cx="46908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30" b="0">
                <a:solidFill>
                  <a:srgbClr val="5B6775"/>
                </a:solidFill>
                <a:latin typeface="Thonburi"/>
              </a:rPr>
              <a:t>ถ้า caregiver ไม่ตอบรับ ต้องมี fallback ไปยังเบอร์ฉุกเฉิน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26280" y="3447287"/>
            <a:ext cx="507492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26280" y="3447287"/>
            <a:ext cx="73152" cy="1143000"/>
          </a:xfrm>
          <a:prstGeom prst="rect">
            <a:avLst/>
          </a:prstGeom>
          <a:solidFill>
            <a:srgbClr val="249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27448" y="3602735"/>
            <a:ext cx="47457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B232E"/>
                </a:solidFill>
                <a:latin typeface="Thonburi"/>
              </a:rPr>
              <a:t>Low-cost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27448" y="3959351"/>
            <a:ext cx="46908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30" b="0">
                <a:solidFill>
                  <a:srgbClr val="5B6775"/>
                </a:solidFill>
                <a:latin typeface="Thonburi"/>
              </a:rPr>
              <a:t>ใช้ hardware ราคาถูก ติดตั้งง่ายกว่าระบบ sensor หนาแน่น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97280" y="5303520"/>
            <a:ext cx="9966960" cy="5943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25880" y="5468112"/>
            <a:ext cx="95097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Thonburi"/>
              </a:rPr>
              <a:t>โจทย์วิจัยของเรา: มีวิธี sensing ที่ passive และ privacy-first แต่ยังส่ง alert ได้จริงหรือไม่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6428232"/>
            <a:ext cx="11045952" cy="9144"/>
          </a:xfrm>
          <a:prstGeom prst="rect">
            <a:avLst/>
          </a:prstGeom>
          <a:solidFill>
            <a:srgbClr val="DE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55480" y="6501384"/>
            <a:ext cx="2057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>
                <a:solidFill>
                  <a:srgbClr val="5B6775"/>
                </a:solidFill>
                <a:latin typeface="Aptos"/>
              </a:rPr>
              <a:t>2:20 - 3:30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E63946"/>
                </a:solidFill>
                <a:latin typeface="Aptos"/>
              </a:rPr>
              <a:t>วิธีเดิม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92608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775"/>
                </a:solidFill>
                <a:latin typeface="Aptos"/>
              </a:rPr>
              <a:t>05/25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6692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B232E"/>
                </a:solidFill>
                <a:latin typeface="Thonburi"/>
              </a:rPr>
              <a:t>วิธีที่มีอยู่ช่วยได้ แต่ยังมีข้อแลกเปลี่ยน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371600"/>
            <a:ext cx="10607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B6775"/>
                </a:solidFill>
                <a:latin typeface="Thonburi"/>
              </a:rPr>
              <a:t>แต่ละกลุ่มแก้ปัญหาบางส่วน และสร้างข้อจำกัดใหม่เมื่อนำไปใช้จริง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1508760" cy="594360"/>
          </a:xfrm>
          <a:prstGeom prst="rect">
            <a:avLst/>
          </a:prstGeom>
          <a:solidFill>
            <a:srgbClr val="0D1117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865376"/>
            <a:ext cx="1435608" cy="5212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Thonburi"/>
              </a:rPr>
              <a:t>กลุ่ม</a:t>
            </a:r>
          </a:p>
        </p:txBody>
      </p:sp>
      <p:sp>
        <p:nvSpPr>
          <p:cNvPr id="9" name="Rectangle 8"/>
          <p:cNvSpPr/>
          <p:nvPr/>
        </p:nvSpPr>
        <p:spPr>
          <a:xfrm>
            <a:off x="2167128" y="1828800"/>
            <a:ext cx="2423160" cy="594360"/>
          </a:xfrm>
          <a:prstGeom prst="rect">
            <a:avLst/>
          </a:prstGeom>
          <a:solidFill>
            <a:srgbClr val="0D1117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03704" y="1865376"/>
            <a:ext cx="2350008" cy="5212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Thonburi"/>
              </a:rPr>
              <a:t>ตัวอย่าง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90288" y="1828800"/>
            <a:ext cx="2743200" cy="594360"/>
          </a:xfrm>
          <a:prstGeom prst="rect">
            <a:avLst/>
          </a:prstGeom>
          <a:solidFill>
            <a:srgbClr val="0D1117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1865376"/>
            <a:ext cx="2670048" cy="5212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Thonburi"/>
              </a:rPr>
              <a:t>จุดแข็ง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33488" y="1828800"/>
            <a:ext cx="4297680" cy="594360"/>
          </a:xfrm>
          <a:prstGeom prst="rect">
            <a:avLst/>
          </a:prstGeom>
          <a:solidFill>
            <a:srgbClr val="0D1117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70064" y="1865376"/>
            <a:ext cx="4224528" cy="5212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Thonburi"/>
              </a:rPr>
              <a:t>ข้อจำกัดที่เจอบ่อย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423160"/>
            <a:ext cx="1508760" cy="667512"/>
          </a:xfrm>
          <a:prstGeom prst="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2459736"/>
            <a:ext cx="1435608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80" b="1">
                <a:solidFill>
                  <a:srgbClr val="1B232E"/>
                </a:solidFill>
                <a:latin typeface="Thonburi"/>
              </a:rPr>
              <a:t>Wearable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67128" y="2423160"/>
            <a:ext cx="2423160" cy="667512"/>
          </a:xfrm>
          <a:prstGeom prst="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03704" y="2459736"/>
            <a:ext cx="2350008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80" b="0">
                <a:solidFill>
                  <a:srgbClr val="5B6775"/>
                </a:solidFill>
                <a:latin typeface="Thonburi"/>
              </a:rPr>
              <a:t>watch, pendant, IMU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90288" y="2423160"/>
            <a:ext cx="2743200" cy="667512"/>
          </a:xfrm>
          <a:prstGeom prst="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26864" y="2459736"/>
            <a:ext cx="2670048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80" b="0">
                <a:solidFill>
                  <a:srgbClr val="5B6775"/>
                </a:solidFill>
                <a:latin typeface="Thonburi"/>
              </a:rPr>
              <a:t>แม่นใน controlled movement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33488" y="2423160"/>
            <a:ext cx="4297680" cy="667512"/>
          </a:xfrm>
          <a:prstGeom prst="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70064" y="2459736"/>
            <a:ext cx="4224528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80" b="0">
                <a:solidFill>
                  <a:srgbClr val="5B6775"/>
                </a:solidFill>
                <a:latin typeface="Thonburi"/>
              </a:rPr>
              <a:t>ต้องใส่และชาร์จ, placement sensitivity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090672"/>
            <a:ext cx="1508760" cy="667512"/>
          </a:xfrm>
          <a:prstGeom prst="rect">
            <a:avLst/>
          </a:prstGeom>
          <a:solidFill>
            <a:srgbClr val="F8FAFD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" y="3127248"/>
            <a:ext cx="1435608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80" b="1">
                <a:solidFill>
                  <a:srgbClr val="1B232E"/>
                </a:solidFill>
                <a:latin typeface="Thonburi"/>
              </a:rPr>
              <a:t>Vision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67128" y="3090672"/>
            <a:ext cx="2423160" cy="667512"/>
          </a:xfrm>
          <a:prstGeom prst="rect">
            <a:avLst/>
          </a:prstGeom>
          <a:solidFill>
            <a:srgbClr val="F8FAFD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03704" y="3127248"/>
            <a:ext cx="2350008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80" b="0">
                <a:solidFill>
                  <a:srgbClr val="5B6775"/>
                </a:solidFill>
                <a:latin typeface="Thonburi"/>
              </a:rPr>
              <a:t>RGB, depth camera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90288" y="3090672"/>
            <a:ext cx="2743200" cy="667512"/>
          </a:xfrm>
          <a:prstGeom prst="rect">
            <a:avLst/>
          </a:prstGeom>
          <a:solidFill>
            <a:srgbClr val="F8FAFD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26864" y="3127248"/>
            <a:ext cx="2670048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80" b="0">
                <a:solidFill>
                  <a:srgbClr val="5B6775"/>
                </a:solidFill>
                <a:latin typeface="Thonburi"/>
              </a:rPr>
              <a:t>เห็น posture ชัด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33488" y="3090672"/>
            <a:ext cx="4297680" cy="667512"/>
          </a:xfrm>
          <a:prstGeom prst="rect">
            <a:avLst/>
          </a:prstGeom>
          <a:solidFill>
            <a:srgbClr val="F8FAFD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70064" y="3127248"/>
            <a:ext cx="4224528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80" b="0">
                <a:solidFill>
                  <a:srgbClr val="5B6775"/>
                </a:solidFill>
                <a:latin typeface="Thonburi"/>
              </a:rPr>
              <a:t>privacy, occlusion, แสงและมุมกล้อง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3758184"/>
            <a:ext cx="1508760" cy="667512"/>
          </a:xfrm>
          <a:prstGeom prst="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" y="3794760"/>
            <a:ext cx="1435608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80" b="1">
                <a:solidFill>
                  <a:srgbClr val="1B232E"/>
                </a:solidFill>
                <a:latin typeface="Thonburi"/>
              </a:rPr>
              <a:t>Ambient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67128" y="3758184"/>
            <a:ext cx="2423160" cy="667512"/>
          </a:xfrm>
          <a:prstGeom prst="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03704" y="3794760"/>
            <a:ext cx="2350008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80" b="0">
                <a:solidFill>
                  <a:srgbClr val="5B6775"/>
                </a:solidFill>
                <a:latin typeface="Thonburi"/>
              </a:rPr>
              <a:t>floor, acoustic, PIR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90288" y="3758184"/>
            <a:ext cx="2743200" cy="667512"/>
          </a:xfrm>
          <a:prstGeom prst="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26864" y="3794760"/>
            <a:ext cx="2670048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80" b="0">
                <a:solidFill>
                  <a:srgbClr val="5B6775"/>
                </a:solidFill>
                <a:latin typeface="Thonburi"/>
              </a:rPr>
              <a:t>ไม่ต้องสวมใส่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33488" y="3758184"/>
            <a:ext cx="4297680" cy="667512"/>
          </a:xfrm>
          <a:prstGeom prst="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70064" y="3794760"/>
            <a:ext cx="4224528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80" b="0">
                <a:solidFill>
                  <a:srgbClr val="5B6775"/>
                </a:solidFill>
                <a:latin typeface="Thonburi"/>
              </a:rPr>
              <a:t>ติดตั้งเฉพาะจุด, noise, blind zone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4425696"/>
            <a:ext cx="1508760" cy="667512"/>
          </a:xfrm>
          <a:prstGeom prst="rect">
            <a:avLst/>
          </a:prstGeom>
          <a:solidFill>
            <a:srgbClr val="F8FAFD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4944" y="4462272"/>
            <a:ext cx="1435608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80" b="1">
                <a:solidFill>
                  <a:srgbClr val="1B232E"/>
                </a:solidFill>
                <a:latin typeface="Thonburi"/>
              </a:rPr>
              <a:t>Radio/WiFi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167128" y="4425696"/>
            <a:ext cx="2423160" cy="667512"/>
          </a:xfrm>
          <a:prstGeom prst="rect">
            <a:avLst/>
          </a:prstGeom>
          <a:solidFill>
            <a:srgbClr val="F8FAFD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203704" y="4462272"/>
            <a:ext cx="2350008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80" b="0">
                <a:solidFill>
                  <a:srgbClr val="5B6775"/>
                </a:solidFill>
                <a:latin typeface="Thonburi"/>
              </a:rPr>
              <a:t>RSSI, CSI, radar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4425696"/>
            <a:ext cx="2743200" cy="667512"/>
          </a:xfrm>
          <a:prstGeom prst="rect">
            <a:avLst/>
          </a:prstGeom>
          <a:solidFill>
            <a:srgbClr val="F8FAFD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26864" y="4462272"/>
            <a:ext cx="2670048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80" b="0">
                <a:solidFill>
                  <a:srgbClr val="5B6775"/>
                </a:solidFill>
                <a:latin typeface="Thonburi"/>
              </a:rPr>
              <a:t>passive, privacy-friendly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33488" y="4425696"/>
            <a:ext cx="4297680" cy="667512"/>
          </a:xfrm>
          <a:prstGeom prst="rect">
            <a:avLst/>
          </a:prstGeom>
          <a:solidFill>
            <a:srgbClr val="F8FAFD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70064" y="4462272"/>
            <a:ext cx="4224528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80" b="0">
                <a:solidFill>
                  <a:srgbClr val="5B6775"/>
                </a:solidFill>
                <a:latin typeface="Thonburi"/>
              </a:rPr>
              <a:t>domain shift, multi-person, calibration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68680" y="5285232"/>
            <a:ext cx="10378440" cy="612648"/>
          </a:xfrm>
          <a:prstGeom prst="roundRect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15568" y="5449824"/>
            <a:ext cx="98755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50" b="1">
                <a:solidFill>
                  <a:srgbClr val="2E66D6"/>
                </a:solidFill>
                <a:latin typeface="Thonburi"/>
              </a:rPr>
              <a:t>ประเด็นจาก review: accuracy ใน lab ไม่พอ ต้องมี real-world testing และ unobtrusive UX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504" y="6144768"/>
            <a:ext cx="10972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" b="0">
                <a:solidFill>
                  <a:srgbClr val="5B6775"/>
                </a:solidFill>
                <a:latin typeface="Thonburi"/>
              </a:rPr>
              <a:t>ที่มา: Chaudhuri et al., 2014; Petersen et al., 2020; fall-detection scoping reviews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6928" y="6428232"/>
            <a:ext cx="11045952" cy="9144"/>
          </a:xfrm>
          <a:prstGeom prst="rect">
            <a:avLst/>
          </a:prstGeom>
          <a:solidFill>
            <a:srgbClr val="DE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555480" y="6501384"/>
            <a:ext cx="2057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>
                <a:solidFill>
                  <a:srgbClr val="5B6775"/>
                </a:solidFill>
                <a:latin typeface="Aptos"/>
              </a:rPr>
              <a:t>3:30 - 4:50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E63946"/>
                </a:solidFill>
                <a:latin typeface="Aptos"/>
              </a:rPr>
              <a:t>ช่องว่าง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92608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775"/>
                </a:solidFill>
                <a:latin typeface="Aptos"/>
              </a:rPr>
              <a:t>06/25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6692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B232E"/>
                </a:solidFill>
                <a:latin typeface="Thonburi"/>
              </a:rPr>
              <a:t>ช่องว่างของวิธีเดิมอยู่ที่การใช้งานจริง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371600"/>
            <a:ext cx="10607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B6775"/>
                </a:solidFill>
                <a:latin typeface="Thonburi"/>
              </a:rPr>
              <a:t>ระบบที่ดีบนกระดาษอาจพังเพราะ privacy, การลืมใส่, หรือการต้องกดเอง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1828800"/>
            <a:ext cx="498348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1828800"/>
            <a:ext cx="73152" cy="11430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984248"/>
            <a:ext cx="465429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B232E"/>
                </a:solidFill>
                <a:latin typeface="Thonburi"/>
              </a:rPr>
              <a:t>Camera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340864"/>
            <a:ext cx="459943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5B6775"/>
                </a:solidFill>
                <a:latin typeface="Thonburi"/>
              </a:rPr>
              <a:t>ตรวจจับ posture ได้ดี
แต่พื้นที่ส่วนตัว เช่น ห้องนอน/ห้องน้ำ ทำให้ accept ยาก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2784" y="1828800"/>
            <a:ext cx="498348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72784" y="1828800"/>
            <a:ext cx="73152" cy="1143000"/>
          </a:xfrm>
          <a:prstGeom prst="rect">
            <a:avLst/>
          </a:prstGeom>
          <a:solidFill>
            <a:srgbClr val="2E6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984248"/>
            <a:ext cx="465429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B232E"/>
                </a:solidFill>
                <a:latin typeface="Thonburi"/>
              </a:rPr>
              <a:t>Wearable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340864"/>
            <a:ext cx="459943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5B6775"/>
                </a:solidFill>
                <a:latin typeface="Thonburi"/>
              </a:rPr>
              <a:t>เหมาะกับ outdoor และ GPS
แต่ fall detection fail ได้ถ้าไม่ได้ใส่หรือแบตหมด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" y="3401568"/>
            <a:ext cx="498348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6384" y="3401568"/>
            <a:ext cx="73152" cy="1143000"/>
          </a:xfrm>
          <a:prstGeom prst="rect">
            <a:avLst/>
          </a:prstGeom>
          <a:solidFill>
            <a:srgbClr val="EE9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3557016"/>
            <a:ext cx="465429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B232E"/>
                </a:solidFill>
                <a:latin typeface="Thonburi"/>
              </a:rPr>
              <a:t>SOS button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3913632"/>
            <a:ext cx="459943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5B6775"/>
                </a:solidFill>
                <a:latin typeface="Thonburi"/>
              </a:rPr>
              <a:t>ง่ายและต้นทุนต่ำ
แต่ต้องมีสติและมีแรงกดปุ่ม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72784" y="3401568"/>
            <a:ext cx="498348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72784" y="3401568"/>
            <a:ext cx="73152" cy="1143000"/>
          </a:xfrm>
          <a:prstGeom prst="rect">
            <a:avLst/>
          </a:prstGeom>
          <a:solidFill>
            <a:srgbClr val="6F5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2" y="3557016"/>
            <a:ext cx="465429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B232E"/>
                </a:solidFill>
                <a:latin typeface="Thonburi"/>
              </a:rPr>
              <a:t>Dense ambient sensors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3913632"/>
            <a:ext cx="459943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5B6775"/>
                </a:solidFill>
                <a:latin typeface="Thonburi"/>
              </a:rPr>
              <a:t>ไม่ต้องสวมใส่
แต่ติดตั้งเยอะและครอบคลุมพื้นที่ยาก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112" y="5257800"/>
            <a:ext cx="10287000" cy="713232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5440680"/>
            <a:ext cx="980236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20" b="1">
                <a:solidFill>
                  <a:srgbClr val="FFFFFF"/>
                </a:solidFill>
                <a:latin typeface="Thonburi"/>
              </a:rPr>
              <a:t>Design target: ไม่บันทึกภาพ, ไม่ต้องสวมใส่, ไม่ต้องให้ผู้สูงอายุเป็นคนเริ่ม 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" y="6144768"/>
            <a:ext cx="10972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" b="0">
                <a:solidFill>
                  <a:srgbClr val="5B6775"/>
                </a:solidFill>
                <a:latin typeface="Thonburi"/>
              </a:rPr>
              <a:t>ที่มา: Chaudhuri et al., 2014; wearable umbrella review, 2020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6428232"/>
            <a:ext cx="11045952" cy="9144"/>
          </a:xfrm>
          <a:prstGeom prst="rect">
            <a:avLst/>
          </a:prstGeom>
          <a:solidFill>
            <a:srgbClr val="DE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55480" y="6501384"/>
            <a:ext cx="2057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>
                <a:solidFill>
                  <a:srgbClr val="5B6775"/>
                </a:solidFill>
                <a:latin typeface="Aptos"/>
              </a:rPr>
              <a:t>4:50 - 6:10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E63946"/>
                </a:solidFill>
                <a:latin typeface="Aptos"/>
              </a:rPr>
              <a:t>แนวคิดหลัก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92608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775"/>
                </a:solidFill>
                <a:latin typeface="Aptos"/>
              </a:rPr>
              <a:t>07/25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6692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B232E"/>
                </a:solidFill>
                <a:latin typeface="Thonburi"/>
              </a:rPr>
              <a:t>เราจึงเลือก WiFi CSI เป็นตัวตรวจจับที่ไม่ใช้กล้อง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371600"/>
            <a:ext cx="10607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B6775"/>
                </a:solidFill>
                <a:latin typeface="Thonburi"/>
              </a:rPr>
              <a:t>CSI เห็นการเปลี่ยนแปลงของ channel หลาย subcarrier เมื่อตัวคนรบกวน multipath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828800"/>
            <a:ext cx="429768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B232E"/>
                </a:solidFill>
                <a:latin typeface="Aptos"/>
              </a:rPr>
              <a:t>Camera sees appearance
Wearable sees body motion
WiFi CSI sees channel disturbance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246120"/>
            <a:ext cx="3383280" cy="7315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3813048"/>
            <a:ext cx="64008" cy="164592"/>
          </a:xfrm>
          <a:prstGeom prst="rect">
            <a:avLst/>
          </a:prstGeom>
          <a:solidFill>
            <a:srgbClr val="2E6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703320"/>
            <a:ext cx="44805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B6775"/>
                </a:solidFill>
                <a:latin typeface="Thonburi"/>
              </a:rPr>
              <a:t>Passive: คนไม่ต้องถือหรือใส่อุปกรณ์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224528"/>
            <a:ext cx="64008" cy="164592"/>
          </a:xfrm>
          <a:prstGeom prst="rect">
            <a:avLst/>
          </a:prstGeom>
          <a:solidFill>
            <a:srgbClr val="2E6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114800"/>
            <a:ext cx="44805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B6775"/>
                </a:solidFill>
                <a:latin typeface="Thonburi"/>
              </a:rPr>
              <a:t>Privacy: ไม่มีภาพหน้า/ร่างกาย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636008"/>
            <a:ext cx="64008" cy="164592"/>
          </a:xfrm>
          <a:prstGeom prst="rect">
            <a:avLst/>
          </a:prstGeom>
          <a:solidFill>
            <a:srgbClr val="2E6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526280"/>
            <a:ext cx="44805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B6775"/>
                </a:solidFill>
                <a:latin typeface="Thonburi"/>
              </a:rPr>
              <a:t>Low-cost: ESP32 และ WiFi hardware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5047488"/>
            <a:ext cx="64008" cy="164592"/>
          </a:xfrm>
          <a:prstGeom prst="rect">
            <a:avLst/>
          </a:prstGeom>
          <a:solidFill>
            <a:srgbClr val="2E6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937760"/>
            <a:ext cx="44805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B6775"/>
                </a:solidFill>
                <a:latin typeface="Thonburi"/>
              </a:rPr>
              <a:t>Works in low light: ไม่พึ่งแสง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847088"/>
            <a:ext cx="4800600" cy="3566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2331720"/>
            <a:ext cx="6400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Tx</a:t>
            </a:r>
          </a:p>
        </p:txBody>
      </p:sp>
      <p:sp>
        <p:nvSpPr>
          <p:cNvPr id="19" name="Oval 18"/>
          <p:cNvSpPr/>
          <p:nvPr/>
        </p:nvSpPr>
        <p:spPr>
          <a:xfrm>
            <a:off x="6656832" y="2084831"/>
            <a:ext cx="786384" cy="786384"/>
          </a:xfrm>
          <a:prstGeom prst="ellipse">
            <a:avLst/>
          </a:prstGeom>
          <a:solidFill>
            <a:srgbClr val="2E6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12680" y="4224528"/>
            <a:ext cx="786384" cy="786384"/>
          </a:xfrm>
          <a:prstGeom prst="ellipse">
            <a:avLst/>
          </a:prstGeom>
          <a:solidFill>
            <a:srgbClr val="008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76688" y="4471416"/>
            <a:ext cx="6400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Rx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360920" y="2487168"/>
            <a:ext cx="2651760" cy="2057400"/>
          </a:xfrm>
          <a:prstGeom prst="line">
            <a:avLst/>
          </a:prstGeom>
          <a:ln w="25400">
            <a:solidFill>
              <a:srgbClr val="E639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360920" y="2807208"/>
            <a:ext cx="2651760" cy="1577340"/>
          </a:xfrm>
          <a:prstGeom prst="line">
            <a:avLst/>
          </a:prstGeom>
          <a:ln w="25400">
            <a:solidFill>
              <a:srgbClr val="EE99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360920" y="3127248"/>
            <a:ext cx="2651760" cy="1097280"/>
          </a:xfrm>
          <a:prstGeom prst="line">
            <a:avLst/>
          </a:prstGeom>
          <a:ln w="25400">
            <a:solidFill>
              <a:srgbClr val="6F59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360920" y="3447288"/>
            <a:ext cx="2651760" cy="617219"/>
          </a:xfrm>
          <a:prstGeom prst="line">
            <a:avLst/>
          </a:prstGeom>
          <a:ln w="25400">
            <a:solidFill>
              <a:srgbClr val="2496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458200" y="2788920"/>
            <a:ext cx="914400" cy="1234440"/>
          </a:xfrm>
          <a:prstGeom prst="roundRect">
            <a:avLst/>
          </a:prstGeom>
          <a:solidFill>
            <a:srgbClr val="FF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58200" y="3054096"/>
            <a:ext cx="9144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B232E"/>
                </a:solidFill>
                <a:latin typeface="Thonburi"/>
              </a:rPr>
              <a:t>คน
เคลื่อนไหว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" y="6144768"/>
            <a:ext cx="10972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" b="0">
                <a:solidFill>
                  <a:srgbClr val="5B6775"/>
                </a:solidFill>
                <a:latin typeface="Thonburi"/>
              </a:rPr>
              <a:t>ที่มา: Wi-ESP, 2020; Espressif ESP-CSI docs; ESP32-CSI-Tool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6428232"/>
            <a:ext cx="11045952" cy="9144"/>
          </a:xfrm>
          <a:prstGeom prst="rect">
            <a:avLst/>
          </a:prstGeom>
          <a:solidFill>
            <a:srgbClr val="DE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55480" y="6501384"/>
            <a:ext cx="2057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>
                <a:solidFill>
                  <a:srgbClr val="5B6775"/>
                </a:solidFill>
                <a:latin typeface="Aptos"/>
              </a:rPr>
              <a:t>6:10 - 7:20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E63946"/>
                </a:solidFill>
                <a:latin typeface="Aptos"/>
              </a:rPr>
              <a:t>สัญญาณและข้อมูล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92608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775"/>
                </a:solidFill>
                <a:latin typeface="Aptos"/>
              </a:rPr>
              <a:t>08/25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6692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B232E"/>
                </a:solidFill>
                <a:latin typeface="Thonburi"/>
              </a:rPr>
              <a:t>สัญญาณ WiFi ถูกแปลงเป็นคุณลักษณะก่อนเข้าโมเดล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371600"/>
            <a:ext cx="10607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B6775"/>
                </a:solidFill>
                <a:latin typeface="Thonburi"/>
              </a:rPr>
              <a:t>pipeline ของโปรเจคนี้ใช้ 52 subcarriers และสถิติต่อ subcarrier</a:t>
            </a:r>
          </a:p>
        </p:txBody>
      </p:sp>
      <p:sp>
        <p:nvSpPr>
          <p:cNvPr id="7" name="Oval 6"/>
          <p:cNvSpPr/>
          <p:nvPr/>
        </p:nvSpPr>
        <p:spPr>
          <a:xfrm>
            <a:off x="1005840" y="2148840"/>
            <a:ext cx="914400" cy="91440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450592"/>
            <a:ext cx="9144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ESP32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27832"/>
            <a:ext cx="16459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1B232E"/>
                </a:solidFill>
                <a:latin typeface="Thonburi"/>
              </a:rPr>
              <a:t>CSI packets
100 pkt/s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103120" y="2615184"/>
            <a:ext cx="576072" cy="0"/>
          </a:xfrm>
          <a:prstGeom prst="line">
            <a:avLst/>
          </a:prstGeom>
          <a:ln w="38100">
            <a:solidFill>
              <a:srgbClr val="BAC5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273552" y="2148840"/>
            <a:ext cx="914400" cy="914400"/>
          </a:xfrm>
          <a:prstGeom prst="ellipse">
            <a:avLst/>
          </a:prstGeom>
          <a:solidFill>
            <a:srgbClr val="2E6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73552" y="2450592"/>
            <a:ext cx="9144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Window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53512" y="3227832"/>
            <a:ext cx="16459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1B232E"/>
                </a:solidFill>
                <a:latin typeface="Thonburi"/>
              </a:rPr>
              <a:t>200 packets
sliding buffer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370832" y="2615184"/>
            <a:ext cx="576072" cy="0"/>
          </a:xfrm>
          <a:prstGeom prst="line">
            <a:avLst/>
          </a:prstGeom>
          <a:ln w="38100">
            <a:solidFill>
              <a:srgbClr val="BAC5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5541264" y="2148840"/>
            <a:ext cx="914400" cy="914400"/>
          </a:xfrm>
          <a:prstGeom prst="ellipse">
            <a:avLst/>
          </a:prstGeom>
          <a:solidFill>
            <a:srgbClr val="008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41264" y="2450592"/>
            <a:ext cx="9144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Feature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21224" y="3227832"/>
            <a:ext cx="16459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1B232E"/>
                </a:solidFill>
                <a:latin typeface="Thonburi"/>
              </a:rPr>
              <a:t>8 stats × 52
= 416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638544" y="2615184"/>
            <a:ext cx="576072" cy="0"/>
          </a:xfrm>
          <a:prstGeom prst="line">
            <a:avLst/>
          </a:prstGeom>
          <a:ln w="38100">
            <a:solidFill>
              <a:srgbClr val="BAC5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7808976" y="2148840"/>
            <a:ext cx="914400" cy="914400"/>
          </a:xfrm>
          <a:prstGeom prst="ellipse">
            <a:avLst/>
          </a:prstGeom>
          <a:solidFill>
            <a:srgbClr val="249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08976" y="2450592"/>
            <a:ext cx="9144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88936" y="3227832"/>
            <a:ext cx="16459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1B232E"/>
                </a:solidFill>
                <a:latin typeface="Thonburi"/>
              </a:rPr>
              <a:t>fall / no_fall
confidence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906256" y="2615184"/>
            <a:ext cx="576072" cy="0"/>
          </a:xfrm>
          <a:prstGeom prst="line">
            <a:avLst/>
          </a:prstGeom>
          <a:ln w="38100">
            <a:solidFill>
              <a:srgbClr val="BAC5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0076688" y="2148840"/>
            <a:ext cx="914400" cy="914400"/>
          </a:xfrm>
          <a:prstGeom prst="ellipse">
            <a:avLst/>
          </a:prstGeom>
          <a:solidFill>
            <a:srgbClr val="EE9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76688" y="2450592"/>
            <a:ext cx="9144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Alert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56648" y="3227832"/>
            <a:ext cx="16459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1B232E"/>
                </a:solidFill>
                <a:latin typeface="Thonburi"/>
              </a:rPr>
              <a:t>push + ack
or call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51560" y="4709160"/>
            <a:ext cx="10012680" cy="777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80160" y="4910328"/>
            <a:ext cx="95554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B232E"/>
                </a:solidFill>
                <a:latin typeface="Thonburi"/>
              </a:rPr>
              <a:t>Feature set: mean, min, max, std, MAD, IQR, skewness, kurtosis ต่อ subcarrier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" y="6144768"/>
            <a:ext cx="10972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" b="0">
                <a:solidFill>
                  <a:srgbClr val="5B6775"/>
                </a:solidFill>
                <a:latin typeface="Thonburi"/>
              </a:rPr>
              <a:t>ที่มา: Local source: fall_detection_backend/ml_service/app/preprocess.py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6428232"/>
            <a:ext cx="11045952" cy="9144"/>
          </a:xfrm>
          <a:prstGeom prst="rect">
            <a:avLst/>
          </a:prstGeom>
          <a:solidFill>
            <a:srgbClr val="DE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55480" y="6501384"/>
            <a:ext cx="2057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>
                <a:solidFill>
                  <a:srgbClr val="5B6775"/>
                </a:solidFill>
                <a:latin typeface="Aptos"/>
              </a:rPr>
              <a:t>7:20 - 8:30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E63946"/>
                </a:solidFill>
                <a:latin typeface="Aptos"/>
              </a:rPr>
              <a:t>งานวิจัยที่เกี่ยวข้อง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92608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775"/>
                </a:solidFill>
                <a:latin typeface="Aptos"/>
              </a:rPr>
              <a:t>09/25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6692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B232E"/>
                </a:solidFill>
                <a:latin typeface="Thonburi"/>
              </a:rPr>
              <a:t>งานวิจัยยืนยันว่า WiFi CSI ตรวจจับการล้มได้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371600"/>
            <a:ext cx="10607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B6775"/>
                </a:solidFill>
                <a:latin typeface="Thonburi"/>
              </a:rPr>
              <a:t>แต่หลายงานยังผูกกับ environment และ hardware setup ที่ควบคุมไว้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3246120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74519"/>
            <a:ext cx="73152" cy="1828800"/>
          </a:xfrm>
          <a:prstGeom prst="rect">
            <a:avLst/>
          </a:prstGeom>
          <a:solidFill>
            <a:srgbClr val="2E6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29967"/>
            <a:ext cx="29169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B232E"/>
                </a:solidFill>
                <a:latin typeface="Thonburi"/>
              </a:rPr>
              <a:t>WiFall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86583"/>
            <a:ext cx="286207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B6775"/>
                </a:solidFill>
                <a:latin typeface="Thonburi"/>
              </a:rPr>
              <a:t>ใช้ CSI เป็น indicator ของ activity
ชี้ว่าตรวจจับ fall แบบไม่ใส่อุปกรณ์เป็นไปได้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74519"/>
            <a:ext cx="3246120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26280" y="1874519"/>
            <a:ext cx="73152" cy="1828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7448" y="2029967"/>
            <a:ext cx="29169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B232E"/>
                </a:solidFill>
                <a:latin typeface="Thonburi"/>
              </a:rPr>
              <a:t>Anti-Fall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2386583"/>
            <a:ext cx="286207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B6775"/>
                </a:solidFill>
                <a:latin typeface="Thonburi"/>
              </a:rPr>
              <a:t>ใช้ CSI phase/amplitude
เน้น real-time และแยก fall-like activities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874519"/>
            <a:ext cx="3246120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21040" y="1874519"/>
            <a:ext cx="73152" cy="1828800"/>
          </a:xfrm>
          <a:prstGeom prst="rect">
            <a:avLst/>
          </a:prstGeom>
          <a:solidFill>
            <a:srgbClr val="008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22208" y="2029967"/>
            <a:ext cx="29169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B232E"/>
                </a:solidFill>
                <a:latin typeface="Thonburi"/>
              </a:rPr>
              <a:t>RT-Fall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22208" y="2386583"/>
            <a:ext cx="286207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B6775"/>
                </a:solidFill>
                <a:latin typeface="Thonburi"/>
              </a:rPr>
              <a:t>commodity WiFi, contactless
รายงาน sensitivity/specificity สูงกว่า WiFall ในหลาย scenario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" y="4526280"/>
            <a:ext cx="10287000" cy="8229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7008" y="4736592"/>
            <a:ext cx="9784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Thonburi"/>
              </a:rPr>
              <a:t>บทเรียน: CSI มี signal สำหรับ fall จริง แต่ต้องระวัง overfit กับห้อง, มุมวาง, คนทดสอบ และกิจกรรมคล้ายล้ม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" y="6144768"/>
            <a:ext cx="10972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" b="0">
                <a:solidFill>
                  <a:srgbClr val="5B6775"/>
                </a:solidFill>
                <a:latin typeface="Thonburi"/>
              </a:rPr>
              <a:t>ที่มา: WiFall; Anti-Fall, 2015; RT-Fall, IEEE TMC 2017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6428232"/>
            <a:ext cx="11045952" cy="9144"/>
          </a:xfrm>
          <a:prstGeom prst="rect">
            <a:avLst/>
          </a:prstGeom>
          <a:solidFill>
            <a:srgbClr val="DE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55480" y="6501384"/>
            <a:ext cx="2057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>
                <a:solidFill>
                  <a:srgbClr val="5B6775"/>
                </a:solidFill>
                <a:latin typeface="Aptos"/>
              </a:rPr>
              <a:t>8:30 - 10:00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E63946"/>
                </a:solidFill>
                <a:latin typeface="Aptos"/>
              </a:rPr>
              <a:t>งานวิจัยที่เกี่ยวข้อง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92608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775"/>
                </a:solidFill>
                <a:latin typeface="Aptos"/>
              </a:rPr>
              <a:t>10/25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6692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B232E"/>
                </a:solidFill>
                <a:latin typeface="Thonburi"/>
              </a:rPr>
              <a:t>งานฝั่ง ESP32 ทำให้แนวคิดนี้ต้นทุนต่ำขึ้น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371600"/>
            <a:ext cx="10607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B6775"/>
                </a:solidFill>
                <a:latin typeface="Thonburi"/>
              </a:rPr>
              <a:t>นี่ตรงกับโจทย์ของเรา: low-cost prototype ที่เอาไปติดตั้งได้จริงมากขึ้น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828800"/>
            <a:ext cx="3383280" cy="2103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28800"/>
            <a:ext cx="73152" cy="2103120"/>
          </a:xfrm>
          <a:prstGeom prst="rect">
            <a:avLst/>
          </a:prstGeom>
          <a:solidFill>
            <a:srgbClr val="2E6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984248"/>
            <a:ext cx="305409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B232E"/>
                </a:solidFill>
                <a:latin typeface="Thonburi"/>
              </a:rPr>
              <a:t>Device-free HAR + LSTM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340864"/>
            <a:ext cx="2999232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B6775"/>
                </a:solidFill>
                <a:latin typeface="Thonburi"/>
              </a:rPr>
              <a:t>งาน CSI-HAR ใช้ SVM/LSTM เพื่อจำแนก activity เช่น walk, sit, stand และ fall
แสดงว่า temporal model มีประโยชน์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2" y="1828800"/>
            <a:ext cx="3383280" cy="2103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16552" y="1828800"/>
            <a:ext cx="73152" cy="2103120"/>
          </a:xfrm>
          <a:prstGeom prst="rect">
            <a:avLst/>
          </a:prstGeom>
          <a:solidFill>
            <a:srgbClr val="008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984248"/>
            <a:ext cx="305409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B232E"/>
                </a:solidFill>
                <a:latin typeface="Thonburi"/>
              </a:rPr>
              <a:t>ESP32 CSI Tool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340864"/>
            <a:ext cx="2999232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B6775"/>
                </a:solidFill>
                <a:latin typeface="Thonburi"/>
              </a:rPr>
              <a:t>ESP32 เก็บ CSI จาก WiFi-enabled microcontroller ได้
เหมาะกับ prototype ราคาต่ำ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1828800"/>
            <a:ext cx="3383280" cy="2103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83296" y="1828800"/>
            <a:ext cx="73152" cy="2103120"/>
          </a:xfrm>
          <a:prstGeom prst="rect">
            <a:avLst/>
          </a:prstGeom>
          <a:solidFill>
            <a:srgbClr val="249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1984248"/>
            <a:ext cx="305409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B232E"/>
                </a:solidFill>
                <a:latin typeface="Thonburi"/>
              </a:rPr>
              <a:t>Wi-ESP / ESP-CSI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2340864"/>
            <a:ext cx="2999232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B6775"/>
                </a:solidFill>
                <a:latin typeface="Thonburi"/>
              </a:rPr>
              <a:t> literature และ ecosystem เริ่มรองรับ ESP32 สำหรับ device-free WiFi sensing มากขึ้น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4754880"/>
            <a:ext cx="64008" cy="16459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64515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1B232E"/>
                </a:solidFill>
                <a:latin typeface="Thonburi"/>
              </a:rPr>
              <a:t>จุดที่เราใช้ตาม literature: CSI windowing, feature extraction, binary fall decision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5212080"/>
            <a:ext cx="64008" cy="16459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510235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1B232E"/>
                </a:solidFill>
                <a:latin typeface="Thonburi"/>
              </a:rPr>
              <a:t>จุดที่ต้องพิสูจน์เอง: reliability ในห้องจริงและ unseen scenario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" y="6144768"/>
            <a:ext cx="10972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" b="0">
                <a:solidFill>
                  <a:srgbClr val="5B6775"/>
                </a:solidFill>
                <a:latin typeface="Thonburi"/>
              </a:rPr>
              <a:t>ที่มา: Damodaran et al., 2020; ESP32-CSI-Tool; Wi-ESP, 2020; Espressif ESP-CSI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428232"/>
            <a:ext cx="11045952" cy="9144"/>
          </a:xfrm>
          <a:prstGeom prst="rect">
            <a:avLst/>
          </a:prstGeom>
          <a:solidFill>
            <a:srgbClr val="DE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55480" y="6501384"/>
            <a:ext cx="2057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>
                <a:solidFill>
                  <a:srgbClr val="5B6775"/>
                </a:solidFill>
                <a:latin typeface="Aptos"/>
              </a:rPr>
              <a:t>10:00 - 11:20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E63946"/>
                </a:solidFill>
                <a:latin typeface="Aptos"/>
              </a:rPr>
              <a:t>สิ่งที่งานนี้เติม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92608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775"/>
                </a:solidFill>
                <a:latin typeface="Aptos"/>
              </a:rPr>
              <a:t>11/25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6692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B232E"/>
                </a:solidFill>
                <a:latin typeface="Thonburi"/>
              </a:rPr>
              <a:t>สิ่งที่เราเติมคือระบบแจ้งเตือนครบวงจร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371600"/>
            <a:ext cx="10607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B6775"/>
                </a:solidFill>
                <a:latin typeface="Thonburi"/>
              </a:rPr>
              <a:t>ไม่ใช่แค่ classifier แต่เป็น safety workflow ที่ตรวจจับแล้วต้องมีคนตอบรับ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315468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828800"/>
            <a:ext cx="73152" cy="1874519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984248"/>
            <a:ext cx="282549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B232E"/>
                </a:solidFill>
                <a:latin typeface="Thonburi"/>
              </a:rPr>
              <a:t>Lab 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340864"/>
            <a:ext cx="2770632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40" b="0">
                <a:solidFill>
                  <a:srgbClr val="5B6775"/>
                </a:solidFill>
                <a:latin typeface="Thonburi"/>
              </a:rPr>
              <a:t>หลาย paper รายงาน accuracy สูง แต่ยังต้องทดสอบ cross-room / cross-person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28800"/>
            <a:ext cx="315468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26280" y="1828800"/>
            <a:ext cx="73152" cy="1874519"/>
          </a:xfrm>
          <a:prstGeom prst="rect">
            <a:avLst/>
          </a:prstGeom>
          <a:solidFill>
            <a:srgbClr val="2E6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7448" y="1984248"/>
            <a:ext cx="282549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B232E"/>
                </a:solidFill>
                <a:latin typeface="Thonburi"/>
              </a:rPr>
              <a:t>Alert workflow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2340864"/>
            <a:ext cx="2770632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40" b="0">
                <a:solidFill>
                  <a:srgbClr val="5B6775"/>
                </a:solidFill>
                <a:latin typeface="Thonburi"/>
              </a:rPr>
              <a:t>งาน ML จำนวนมากจบที่ prediction แต่ระบบจริงต้องมี acknowledge และ escalation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828800"/>
            <a:ext cx="315468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828800"/>
            <a:ext cx="73152" cy="1874519"/>
          </a:xfrm>
          <a:prstGeom prst="rect">
            <a:avLst/>
          </a:prstGeom>
          <a:solidFill>
            <a:srgbClr val="008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8" y="1984248"/>
            <a:ext cx="282549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B232E"/>
                </a:solidFill>
                <a:latin typeface="Thonburi"/>
              </a:rPr>
              <a:t>Low-cost deployment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0768" y="2340864"/>
            <a:ext cx="2770632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40" b="0">
                <a:solidFill>
                  <a:srgbClr val="5B6775"/>
                </a:solidFill>
                <a:latin typeface="Thonburi"/>
              </a:rPr>
              <a:t>ESP32 ทำให้ต้นทุนต่ำ แต่ signal quality และ calibration ยังเป็นความเสี่ยง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51560" y="4663440"/>
            <a:ext cx="10012680" cy="777240"/>
          </a:xfrm>
          <a:prstGeom prst="roundRect">
            <a:avLst/>
          </a:prstGeom>
          <a:solidFill>
            <a:srgbClr val="FF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98448" y="4873752"/>
            <a:ext cx="95097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AE2334"/>
                </a:solidFill>
                <a:latin typeface="Thonburi"/>
              </a:rPr>
              <a:t>Contribution ของเรา: prototype end-to-end จาก ESP32 CSI → ML inference → app notification → caregiver ack → Twilio escalation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428232"/>
            <a:ext cx="11045952" cy="9144"/>
          </a:xfrm>
          <a:prstGeom prst="rect">
            <a:avLst/>
          </a:prstGeom>
          <a:solidFill>
            <a:srgbClr val="DE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55480" y="6501384"/>
            <a:ext cx="2057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>
                <a:solidFill>
                  <a:srgbClr val="5B6775"/>
                </a:solidFill>
                <a:latin typeface="Aptos"/>
              </a:rPr>
              <a:t>11:20 - 12:20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E63946"/>
                </a:solidFill>
                <a:latin typeface="Aptos"/>
              </a:rPr>
              <a:t>แนวทางของเรา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92608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775"/>
                </a:solidFill>
                <a:latin typeface="Aptos"/>
              </a:rPr>
              <a:t>12/25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6692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B232E"/>
                </a:solidFill>
                <a:latin typeface="Thonburi"/>
              </a:rPr>
              <a:t>แนวทางของเราคือตรวจจับแล้วส่งถึงผู้ดูแลทันที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371600"/>
            <a:ext cx="10607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B6775"/>
                </a:solidFill>
                <a:latin typeface="Thonburi"/>
              </a:rPr>
              <a:t>ตรวจจับด้วย WiFi CSI และส่งต่อไปยังแอปของผู้ดูแล</a:t>
            </a:r>
          </a:p>
        </p:txBody>
      </p:sp>
      <p:sp>
        <p:nvSpPr>
          <p:cNvPr id="7" name="Oval 6"/>
          <p:cNvSpPr/>
          <p:nvPr/>
        </p:nvSpPr>
        <p:spPr>
          <a:xfrm>
            <a:off x="1051560" y="2084831"/>
            <a:ext cx="987552" cy="987552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450592"/>
            <a:ext cx="987552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SENSE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91840"/>
            <a:ext cx="17373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B232E"/>
                </a:solidFill>
                <a:latin typeface="Thonburi"/>
              </a:rPr>
              <a:t>ESP32 รับ CSI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103120" y="2578608"/>
            <a:ext cx="566928" cy="0"/>
          </a:xfrm>
          <a:prstGeom prst="line">
            <a:avLst/>
          </a:prstGeom>
          <a:ln w="38100">
            <a:solidFill>
              <a:srgbClr val="B9C4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319272" y="2084831"/>
            <a:ext cx="987552" cy="987552"/>
          </a:xfrm>
          <a:prstGeom prst="ellipse">
            <a:avLst/>
          </a:prstGeom>
          <a:solidFill>
            <a:srgbClr val="2E6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9272" y="2450592"/>
            <a:ext cx="987552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INFER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53512" y="3291840"/>
            <a:ext cx="17373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B232E"/>
                </a:solidFill>
                <a:latin typeface="Thonburi"/>
              </a:rPr>
              <a:t>ML service ทำนาย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370832" y="2578608"/>
            <a:ext cx="566928" cy="0"/>
          </a:xfrm>
          <a:prstGeom prst="line">
            <a:avLst/>
          </a:prstGeom>
          <a:ln w="38100">
            <a:solidFill>
              <a:srgbClr val="B9C4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5586984" y="2084831"/>
            <a:ext cx="987552" cy="987552"/>
          </a:xfrm>
          <a:prstGeom prst="ellipse">
            <a:avLst/>
          </a:prstGeom>
          <a:solidFill>
            <a:srgbClr val="6F5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86984" y="2450592"/>
            <a:ext cx="987552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STORE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21224" y="3291840"/>
            <a:ext cx="17373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B232E"/>
                </a:solidFill>
                <a:latin typeface="Thonburi"/>
              </a:rPr>
              <a:t>Supabase log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638544" y="2578608"/>
            <a:ext cx="566928" cy="0"/>
          </a:xfrm>
          <a:prstGeom prst="line">
            <a:avLst/>
          </a:prstGeom>
          <a:ln w="38100">
            <a:solidFill>
              <a:srgbClr val="B9C4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7854696" y="2084831"/>
            <a:ext cx="987552" cy="987552"/>
          </a:xfrm>
          <a:prstGeom prst="ellipse">
            <a:avLst/>
          </a:prstGeom>
          <a:solidFill>
            <a:srgbClr val="008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54696" y="2450592"/>
            <a:ext cx="987552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NOTIFY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88936" y="3291840"/>
            <a:ext cx="17373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B232E"/>
                </a:solidFill>
                <a:latin typeface="Thonburi"/>
              </a:rPr>
              <a:t>Expo push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906256" y="2578608"/>
            <a:ext cx="566928" cy="0"/>
          </a:xfrm>
          <a:prstGeom prst="line">
            <a:avLst/>
          </a:prstGeom>
          <a:ln w="38100">
            <a:solidFill>
              <a:srgbClr val="B9C4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0122408" y="2084831"/>
            <a:ext cx="987552" cy="987552"/>
          </a:xfrm>
          <a:prstGeom prst="ellipse">
            <a:avLst/>
          </a:prstGeom>
          <a:solidFill>
            <a:srgbClr val="EE9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22408" y="2450592"/>
            <a:ext cx="987552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ESCALATE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56648" y="3291840"/>
            <a:ext cx="17373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B232E"/>
                </a:solidFill>
                <a:latin typeface="Thonburi"/>
              </a:rPr>
              <a:t>Twilio call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34440" y="4572000"/>
            <a:ext cx="4434840" cy="731520"/>
          </a:xfrm>
          <a:prstGeom prst="roundRect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17320" y="4782312"/>
            <a:ext cx="406908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2E66D6"/>
                </a:solidFill>
                <a:latin typeface="Thonburi"/>
              </a:rPr>
              <a:t>Ack ทันเวลา → จบ flow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4572000"/>
            <a:ext cx="4434840" cy="731520"/>
          </a:xfrm>
          <a:prstGeom prst="roundRect">
            <a:avLst/>
          </a:prstGeom>
          <a:solidFill>
            <a:srgbClr val="FF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4782312"/>
            <a:ext cx="406908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AE2334"/>
                </a:solidFill>
                <a:latin typeface="Thonburi"/>
              </a:rPr>
              <a:t>ไม่ Ack → โทรฉุกเฉิน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6428232"/>
            <a:ext cx="11045952" cy="9144"/>
          </a:xfrm>
          <a:prstGeom prst="rect">
            <a:avLst/>
          </a:prstGeom>
          <a:solidFill>
            <a:srgbClr val="DE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55480" y="6501384"/>
            <a:ext cx="2057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>
                <a:solidFill>
                  <a:srgbClr val="5B6775"/>
                </a:solidFill>
                <a:latin typeface="Aptos"/>
              </a:rPr>
              <a:t>12:20 - 13:20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E63946"/>
                </a:solidFill>
                <a:latin typeface="Aptos"/>
              </a:rPr>
              <a:t>สถาปัตยกรรม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92608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775"/>
                </a:solidFill>
                <a:latin typeface="Aptos"/>
              </a:rPr>
              <a:t>13/25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6692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B232E"/>
                </a:solidFill>
                <a:latin typeface="Thonburi"/>
              </a:rPr>
              <a:t>ระบบปัจจุบันเชื่อมครบตั้งแต่ ESP32 ถึงแอป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371600"/>
            <a:ext cx="10607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B6775"/>
                </a:solidFill>
                <a:latin typeface="Thonburi"/>
              </a:rPr>
              <a:t>แบ่งเป็น hardware, ML service, Express API, database, และ Expo mobile app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920240"/>
            <a:ext cx="1993392" cy="1554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920240"/>
            <a:ext cx="73152" cy="155448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075688"/>
            <a:ext cx="166420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B232E"/>
                </a:solidFill>
                <a:latin typeface="Thonburi"/>
              </a:rPr>
              <a:t>Hardware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432304"/>
            <a:ext cx="160934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B6775"/>
                </a:solidFill>
                <a:latin typeface="Thonburi"/>
              </a:rPr>
              <a:t>ESP32 AP/STA
CSI via USB serial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60320" y="2697480"/>
            <a:ext cx="219456" cy="0"/>
          </a:xfrm>
          <a:prstGeom prst="line">
            <a:avLst/>
          </a:prstGeom>
          <a:ln w="30480">
            <a:solidFill>
              <a:srgbClr val="B8C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89504" y="1920240"/>
            <a:ext cx="1993392" cy="1554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89504" y="1920240"/>
            <a:ext cx="73152" cy="1554480"/>
          </a:xfrm>
          <a:prstGeom prst="rect">
            <a:avLst/>
          </a:prstGeom>
          <a:solidFill>
            <a:srgbClr val="2E6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90672" y="2075688"/>
            <a:ext cx="166420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B232E"/>
                </a:solidFill>
                <a:latin typeface="Thonburi"/>
              </a:rPr>
              <a:t>ML 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0672" y="2432304"/>
            <a:ext cx="160934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B6775"/>
                </a:solidFill>
                <a:latin typeface="Thonburi"/>
              </a:rPr>
              <a:t>FastAPI
RF active inference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882896" y="2697480"/>
            <a:ext cx="219456" cy="0"/>
          </a:xfrm>
          <a:prstGeom prst="line">
            <a:avLst/>
          </a:prstGeom>
          <a:ln w="30480">
            <a:solidFill>
              <a:srgbClr val="B8C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212080" y="1920240"/>
            <a:ext cx="1993392" cy="1554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212080" y="1920240"/>
            <a:ext cx="73152" cy="1554480"/>
          </a:xfrm>
          <a:prstGeom prst="rect">
            <a:avLst/>
          </a:prstGeom>
          <a:solidFill>
            <a:srgbClr val="6F5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13248" y="2075688"/>
            <a:ext cx="166420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B232E"/>
                </a:solidFill>
                <a:latin typeface="Thonburi"/>
              </a:rPr>
              <a:t>Express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13248" y="2432304"/>
            <a:ext cx="160934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B6775"/>
                </a:solidFill>
                <a:latin typeface="Thonburi"/>
              </a:rPr>
              <a:t>predict/events/push/alert
API key auth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205472" y="2697480"/>
            <a:ext cx="219456" cy="0"/>
          </a:xfrm>
          <a:prstGeom prst="line">
            <a:avLst/>
          </a:prstGeom>
          <a:ln w="30480">
            <a:solidFill>
              <a:srgbClr val="B8C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534656" y="1920240"/>
            <a:ext cx="1993392" cy="1554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34656" y="1920240"/>
            <a:ext cx="73152" cy="1554480"/>
          </a:xfrm>
          <a:prstGeom prst="rect">
            <a:avLst/>
          </a:prstGeom>
          <a:solidFill>
            <a:srgbClr val="249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35824" y="2075688"/>
            <a:ext cx="166420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B232E"/>
                </a:solidFill>
                <a:latin typeface="Thonburi"/>
              </a:rPr>
              <a:t>Supabase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5824" y="2432304"/>
            <a:ext cx="160934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B6775"/>
                </a:solidFill>
                <a:latin typeface="Thonburi"/>
              </a:rPr>
              <a:t>fall_events
push_tokens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528048" y="2697480"/>
            <a:ext cx="219456" cy="0"/>
          </a:xfrm>
          <a:prstGeom prst="line">
            <a:avLst/>
          </a:prstGeom>
          <a:ln w="30480">
            <a:solidFill>
              <a:srgbClr val="B8C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857232" y="1920240"/>
            <a:ext cx="1993392" cy="1554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857232" y="1920240"/>
            <a:ext cx="73152" cy="1554480"/>
          </a:xfrm>
          <a:prstGeom prst="rect">
            <a:avLst/>
          </a:prstGeom>
          <a:solidFill>
            <a:srgbClr val="008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0" y="2075688"/>
            <a:ext cx="166420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B232E"/>
                </a:solidFill>
                <a:latin typeface="Thonburi"/>
              </a:rPr>
              <a:t>Mobile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2432304"/>
            <a:ext cx="160934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B6775"/>
                </a:solidFill>
                <a:latin typeface="Thonburi"/>
              </a:rPr>
              <a:t>Expo app
poll + ack + push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9808" y="4251960"/>
            <a:ext cx="1069848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7552" y="44805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1B232E"/>
                </a:solidFill>
                <a:latin typeface="Aptos"/>
              </a:rPr>
              <a:t>Key endpoints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14600" y="4480560"/>
            <a:ext cx="8549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30" b="0">
                <a:solidFill>
                  <a:srgbClr val="5B6775"/>
                </a:solidFill>
                <a:latin typeface="Aptos"/>
              </a:rPr>
              <a:t>POST /api/v1/predict   GET /api/v1/events/falls   POST /api/v1/alert/ack/:event_id   POST /api/v1/push/register   POST /api/v1/demo/fire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" y="6144768"/>
            <a:ext cx="10972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" b="0">
                <a:solidFill>
                  <a:srgbClr val="5B6775"/>
                </a:solidFill>
                <a:latin typeface="Thonburi"/>
              </a:rPr>
              <a:t>ที่มา: Local source: express_api/src/index.js, routes/*.js, lib/api.ts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6428232"/>
            <a:ext cx="11045952" cy="9144"/>
          </a:xfrm>
          <a:prstGeom prst="rect">
            <a:avLst/>
          </a:prstGeom>
          <a:solidFill>
            <a:srgbClr val="DE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55480" y="6501384"/>
            <a:ext cx="2057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>
                <a:solidFill>
                  <a:srgbClr val="5B6775"/>
                </a:solidFill>
                <a:latin typeface="Aptos"/>
              </a:rPr>
              <a:t>13:20 - 14:40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E63946"/>
                </a:solidFill>
                <a:latin typeface="Aptos"/>
              </a:rPr>
              <a:t>ข้อมูล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92608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775"/>
                </a:solidFill>
                <a:latin typeface="Aptos"/>
              </a:rPr>
              <a:t>14/25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6692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B232E"/>
                </a:solidFill>
                <a:latin typeface="Thonburi"/>
              </a:rPr>
              <a:t>เราเก็บ CSI ผ่าน USB serial เพื่อให้ข้อมูลนิ่งขึ้น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371600"/>
            <a:ext cx="10607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B6775"/>
                </a:solidFill>
                <a:latin typeface="Thonburi"/>
              </a:rPr>
              <a:t>โหมดปัจจุบันเน้น USB serial เพื่อให้เก็บ CSI เสถียรกว่า UDP/Hotspot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246120" cy="2011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73152" cy="201168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1984248"/>
            <a:ext cx="29169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B232E"/>
                </a:solidFill>
                <a:latin typeface="Thonburi"/>
              </a:rPr>
              <a:t>Collection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340864"/>
            <a:ext cx="286207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B6775"/>
                </a:solidFill>
                <a:latin typeface="Thonburi"/>
              </a:rPr>
              <a:t>ESP32 receiver ส่ง CSI ผ่าน USB serial
baud 921600
collector: csi_collector_serial.py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62272" y="1828800"/>
            <a:ext cx="3246120" cy="2011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62272" y="1828800"/>
            <a:ext cx="73152" cy="2011680"/>
          </a:xfrm>
          <a:prstGeom prst="rect">
            <a:avLst/>
          </a:prstGeom>
          <a:solidFill>
            <a:srgbClr val="2E6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984248"/>
            <a:ext cx="29169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B232E"/>
                </a:solidFill>
                <a:latin typeface="Thonburi"/>
              </a:rPr>
              <a:t>Preprocess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340864"/>
            <a:ext cx="286207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B6775"/>
                </a:solidFill>
                <a:latin typeface="Thonburi"/>
              </a:rPr>
              <a:t>parse I/Q หรือ amplitude
52 subcarriers
window 200 packets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828800"/>
            <a:ext cx="3246120" cy="2011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828800"/>
            <a:ext cx="73152" cy="2011680"/>
          </a:xfrm>
          <a:prstGeom prst="rect">
            <a:avLst/>
          </a:prstGeom>
          <a:solidFill>
            <a:srgbClr val="008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8" y="1984248"/>
            <a:ext cx="29169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B232E"/>
                </a:solidFill>
                <a:latin typeface="Thonburi"/>
              </a:rPr>
              <a:t>Feature/Train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2340864"/>
            <a:ext cx="286207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B6775"/>
                </a:solidFill>
                <a:latin typeface="Thonburi"/>
              </a:rPr>
              <a:t>416 features ต่อ window
train notebooks + model files
RF/LSTM artifacts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" y="4617720"/>
            <a:ext cx="10287000" cy="777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4828032"/>
            <a:ext cx="98298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60" b="1">
                <a:solidFill>
                  <a:srgbClr val="1B232E"/>
                </a:solidFill>
                <a:latin typeface="Thonburi"/>
              </a:rPr>
              <a:t>Decision ที่เปลี่ยนไป: จาก sequence-heavy LSTM มาใช้ RF window ล่าสุด เพื่อให้ real-time ง่ายขึ้นและลด buffer issue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" y="6144768"/>
            <a:ext cx="10972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" b="0">
                <a:solidFill>
                  <a:srgbClr val="5B6775"/>
                </a:solidFill>
                <a:latin typeface="Thonburi"/>
              </a:rPr>
              <a:t>ที่มา: Local source: preprocess.py, predict.py, data_collection/csi_collector_serial.py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6428232"/>
            <a:ext cx="11045952" cy="9144"/>
          </a:xfrm>
          <a:prstGeom prst="rect">
            <a:avLst/>
          </a:prstGeom>
          <a:solidFill>
            <a:srgbClr val="DE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55480" y="6501384"/>
            <a:ext cx="2057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>
                <a:solidFill>
                  <a:srgbClr val="5B6775"/>
                </a:solidFill>
                <a:latin typeface="Aptos"/>
              </a:rPr>
              <a:t>14:40 - 15:50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E63946"/>
                </a:solidFill>
                <a:latin typeface="Aptos"/>
              </a:rPr>
              <a:t>โมเดล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92608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775"/>
                </a:solidFill>
                <a:latin typeface="Aptos"/>
              </a:rPr>
              <a:t>15/25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6692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B232E"/>
                </a:solidFill>
                <a:latin typeface="Thonburi"/>
              </a:rPr>
              <a:t>ผลทดสอบกับชุดข้อมูลเดิมดี แต่ยังต้องพิสูจน์ในสถานการณ์จริง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371600"/>
            <a:ext cx="10607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B6775"/>
                </a:solidFill>
                <a:latin typeface="Thonburi"/>
              </a:rPr>
              <a:t>นี่คือบทเรียนสำคัญจาก lit review และจากงานเราเอง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057400"/>
            <a:ext cx="214884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69848" y="2258568"/>
            <a:ext cx="822960" cy="310896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4712" y="2304288"/>
            <a:ext cx="713232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Thonburi"/>
              </a:rPr>
              <a:t>v1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2743200"/>
            <a:ext cx="18105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B232E"/>
                </a:solidFill>
                <a:latin typeface="Thonburi"/>
              </a:rPr>
              <a:t>LSTM binary
87.3%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17520" y="2770632"/>
            <a:ext cx="365760" cy="0"/>
          </a:xfrm>
          <a:prstGeom prst="line">
            <a:avLst/>
          </a:prstGeom>
          <a:ln w="29209">
            <a:solidFill>
              <a:srgbClr val="B8C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566160" y="2057400"/>
            <a:ext cx="214884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67328" y="2258568"/>
            <a:ext cx="822960" cy="310896"/>
          </a:xfrm>
          <a:prstGeom prst="roundRect">
            <a:avLst/>
          </a:prstGeom>
          <a:solidFill>
            <a:srgbClr val="2E6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22192" y="2304288"/>
            <a:ext cx="713232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Thonburi"/>
              </a:rPr>
              <a:t>v2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0752" y="2743200"/>
            <a:ext cx="18105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B232E"/>
                </a:solidFill>
                <a:latin typeface="Thonburi"/>
              </a:rPr>
              <a:t>LSTM 4-class
92.9%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715000" y="2770632"/>
            <a:ext cx="365760" cy="0"/>
          </a:xfrm>
          <a:prstGeom prst="line">
            <a:avLst/>
          </a:prstGeom>
          <a:ln w="29209">
            <a:solidFill>
              <a:srgbClr val="B8C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63640" y="2057400"/>
            <a:ext cx="214884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64808" y="2258568"/>
            <a:ext cx="822960" cy="310896"/>
          </a:xfrm>
          <a:prstGeom prst="roundRect">
            <a:avLst/>
          </a:prstGeom>
          <a:solidFill>
            <a:srgbClr val="008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9672" y="2304288"/>
            <a:ext cx="713232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Thonburi"/>
              </a:rPr>
              <a:t>v3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743200"/>
            <a:ext cx="18105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B232E"/>
                </a:solidFill>
                <a:latin typeface="Thonburi"/>
              </a:rPr>
              <a:t>LSTM binary
99.7% split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412480" y="2770632"/>
            <a:ext cx="365760" cy="0"/>
          </a:xfrm>
          <a:prstGeom prst="line">
            <a:avLst/>
          </a:prstGeom>
          <a:ln w="29209">
            <a:solidFill>
              <a:srgbClr val="B8C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961120" y="2057400"/>
            <a:ext cx="214884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62288" y="2258568"/>
            <a:ext cx="822960" cy="310896"/>
          </a:xfrm>
          <a:prstGeom prst="roundRect">
            <a:avLst/>
          </a:prstGeom>
          <a:solidFill>
            <a:srgbClr val="249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17152" y="2304288"/>
            <a:ext cx="713232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Thonburi"/>
              </a:rPr>
              <a:t>active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25712" y="2743200"/>
            <a:ext cx="18105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B232E"/>
                </a:solidFill>
                <a:latin typeface="Thonburi"/>
              </a:rPr>
              <a:t>RF v1
threshold 0.55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7552" y="4434840"/>
            <a:ext cx="10195560" cy="86868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4440" y="4663440"/>
            <a:ext cx="96926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50" b="1">
                <a:solidFill>
                  <a:srgbClr val="EE9930"/>
                </a:solidFill>
                <a:latin typeface="Thonburi"/>
              </a:rPr>
              <a:t>ข้อสรุป: offline accuracy สูงเป็นหลักฐานว่า signal มี pattern แต่ยังไม่ใช่ evidence ว่าใช้ได้ทุกบ้าน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" y="6144768"/>
            <a:ext cx="10972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" b="0">
                <a:solidFill>
                  <a:srgbClr val="5B6775"/>
                </a:solidFill>
                <a:latin typeface="Thonburi"/>
              </a:rPr>
              <a:t>ที่มา: Local model reports: training_report.json, report_v2.json, report_v3.json; active source: predict.py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6428232"/>
            <a:ext cx="11045952" cy="9144"/>
          </a:xfrm>
          <a:prstGeom prst="rect">
            <a:avLst/>
          </a:prstGeom>
          <a:solidFill>
            <a:srgbClr val="DE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55480" y="6501384"/>
            <a:ext cx="2057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>
                <a:solidFill>
                  <a:srgbClr val="5B6775"/>
                </a:solidFill>
                <a:latin typeface="Aptos"/>
              </a:rPr>
              <a:t>15:50 - 17:00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E63946"/>
                </a:solidFill>
                <a:latin typeface="Aptos"/>
              </a:rPr>
              <a:t>โมเดลที่ใช้งาน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92608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775"/>
                </a:solidFill>
                <a:latin typeface="Aptos"/>
              </a:rPr>
              <a:t>16/25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6692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B232E"/>
                </a:solidFill>
                <a:latin typeface="Thonburi"/>
              </a:rPr>
              <a:t>โมเดลที่ใช้งานตอนนี้คือ Random Forest จากหน้าต่างข้อมูลล่าสุด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371600"/>
            <a:ext cx="10607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B6775"/>
                </a:solidFill>
                <a:latin typeface="Thonburi"/>
              </a:rPr>
              <a:t>ML service รับ sequence list แต่ใช้ window ล่าสุดเพื่อ classify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3246120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828800"/>
            <a:ext cx="73152" cy="2148840"/>
          </a:xfrm>
          <a:prstGeom prst="rect">
            <a:avLst/>
          </a:prstGeom>
          <a:solidFill>
            <a:srgbClr val="2E6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984248"/>
            <a:ext cx="29169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B232E"/>
                </a:solidFill>
                <a:latin typeface="Thonburi"/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340864"/>
            <a:ext cx="2862072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5B6775"/>
                </a:solidFill>
                <a:latin typeface="Thonburi"/>
              </a:rPr>
              <a:t>features: List[List[float]]
ใช้ features[-1]
shape 1 × 416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3984" y="1828800"/>
            <a:ext cx="3246120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43984" y="1828800"/>
            <a:ext cx="73152" cy="2148840"/>
          </a:xfrm>
          <a:prstGeom prst="rect">
            <a:avLst/>
          </a:prstGeom>
          <a:solidFill>
            <a:srgbClr val="008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2" y="1984248"/>
            <a:ext cx="29169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B232E"/>
                </a:solidFill>
                <a:latin typeface="Thonburi"/>
              </a:rPr>
              <a:t>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2340864"/>
            <a:ext cx="2862072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5B6775"/>
                </a:solidFill>
                <a:latin typeface="Thonburi"/>
              </a:rPr>
              <a:t>rf_v1.pkl + scaler_rf_v1.pkl
predict_proba
fall_prob = proba[0]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828800"/>
            <a:ext cx="3246120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5008" y="1828800"/>
            <a:ext cx="73152" cy="214884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66176" y="1984248"/>
            <a:ext cx="29169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B232E"/>
                </a:solidFill>
                <a:latin typeface="Thonburi"/>
              </a:rPr>
              <a:t>Decision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6176" y="2340864"/>
            <a:ext cx="2862072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5B6775"/>
                </a:solidFill>
                <a:latin typeface="Thonburi"/>
              </a:rPr>
              <a:t>fall_prob &gt;= 0.55
return fall/no_fall
confidence score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" y="4727448"/>
            <a:ext cx="64008" cy="16459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46177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1B232E"/>
                </a:solidFill>
                <a:latin typeface="Thonburi"/>
              </a:rPr>
              <a:t>ข้อดี: latency ต่ำ, implementation ง่าย, เหมาะกับ demo และ real-time loop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" y="5166360"/>
            <a:ext cx="64008" cy="16459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5056632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1B232E"/>
                </a:solidFill>
                <a:latin typeface="Thonburi"/>
              </a:rPr>
              <a:t>ข้อควรระวัง: threshold ยังต้อง tune ด้วย ROC/PR curve และ unseen 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" y="6144768"/>
            <a:ext cx="10972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" b="0">
                <a:solidFill>
                  <a:srgbClr val="5B6775"/>
                </a:solidFill>
                <a:latin typeface="Thonburi"/>
              </a:rPr>
              <a:t>ที่มา: Local source: fall_detection_backend/ml_service/app/predict.py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428232"/>
            <a:ext cx="11045952" cy="9144"/>
          </a:xfrm>
          <a:prstGeom prst="rect">
            <a:avLst/>
          </a:prstGeom>
          <a:solidFill>
            <a:srgbClr val="DE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55480" y="6501384"/>
            <a:ext cx="2057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>
                <a:solidFill>
                  <a:srgbClr val="5B6775"/>
                </a:solidFill>
                <a:latin typeface="Aptos"/>
              </a:rPr>
              <a:t>17:00 - 18:00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E63946"/>
                </a:solidFill>
                <a:latin typeface="Aptos"/>
              </a:rPr>
              <a:t>ระบบแจ้งเตือน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92608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775"/>
                </a:solidFill>
                <a:latin typeface="Aptos"/>
              </a:rPr>
              <a:t>17/25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6692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B232E"/>
                </a:solidFill>
                <a:latin typeface="Thonburi"/>
              </a:rPr>
              <a:t>หลังตรวจพบการล้ม ระบบรอผู้ดูแลกดรับทราบ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371600"/>
            <a:ext cx="10607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B6775"/>
                </a:solidFill>
                <a:latin typeface="Thonburi"/>
              </a:rPr>
              <a:t>ถ้าไม่มีการตอบรับในเวลาที่กำหนด ระบบจะยกระดับไปยังการโทรฉุกเฉิน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057400"/>
            <a:ext cx="2212848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78408" y="2258568"/>
            <a:ext cx="1508760" cy="310896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304288"/>
            <a:ext cx="1399032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Thonburi"/>
              </a:rPr>
              <a:t>DETECTED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761488"/>
            <a:ext cx="188366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20" b="1">
                <a:solidFill>
                  <a:srgbClr val="1B232E"/>
                </a:solidFill>
                <a:latin typeface="Thonburi"/>
              </a:rPr>
              <a:t>save DB
send push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90088" y="2670048"/>
            <a:ext cx="393192" cy="0"/>
          </a:xfrm>
          <a:prstGeom prst="line">
            <a:avLst/>
          </a:prstGeom>
          <a:ln w="29209">
            <a:solidFill>
              <a:srgbClr val="B8C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566160" y="2057400"/>
            <a:ext cx="2212848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67328" y="2258568"/>
            <a:ext cx="1508760" cy="310896"/>
          </a:xfrm>
          <a:prstGeom prst="roundRect">
            <a:avLst/>
          </a:prstGeom>
          <a:solidFill>
            <a:srgbClr val="2E6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22192" y="2304288"/>
            <a:ext cx="1399032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Thonburi"/>
              </a:rPr>
              <a:t>AWAITING_ACK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0752" y="2761488"/>
            <a:ext cx="188366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20" b="1">
                <a:solidFill>
                  <a:srgbClr val="1B232E"/>
                </a:solidFill>
                <a:latin typeface="Thonburi"/>
              </a:rPr>
              <a:t>timer 60s
cooldown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79" y="2057400"/>
            <a:ext cx="2212848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56247" y="2258568"/>
            <a:ext cx="1508760" cy="310896"/>
          </a:xfrm>
          <a:prstGeom prst="roundRect">
            <a:avLst/>
          </a:prstGeom>
          <a:solidFill>
            <a:srgbClr val="249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11111" y="2304288"/>
            <a:ext cx="1399032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Thonburi"/>
              </a:rPr>
              <a:t>ACKED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1" y="2761488"/>
            <a:ext cx="188366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20" b="1">
                <a:solidFill>
                  <a:srgbClr val="1B232E"/>
                </a:solidFill>
                <a:latin typeface="Thonburi"/>
              </a:rPr>
              <a:t>cancel timer
mark ack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3999" y="2057400"/>
            <a:ext cx="2212848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345167" y="2258568"/>
            <a:ext cx="1508760" cy="310896"/>
          </a:xfrm>
          <a:prstGeom prst="roundRect">
            <a:avLst/>
          </a:prstGeom>
          <a:solidFill>
            <a:srgbClr val="EE9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00031" y="2304288"/>
            <a:ext cx="1399032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Thonburi"/>
              </a:rPr>
              <a:t>ESCALATED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08591" y="2761488"/>
            <a:ext cx="188366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20" b="1">
                <a:solidFill>
                  <a:srgbClr val="1B232E"/>
                </a:solidFill>
                <a:latin typeface="Thonburi"/>
              </a:rPr>
              <a:t>Twilio voice
mark escalated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742432" y="3364992"/>
            <a:ext cx="658368" cy="704088"/>
          </a:xfrm>
          <a:prstGeom prst="line">
            <a:avLst/>
          </a:prstGeom>
          <a:ln w="33020">
            <a:solidFill>
              <a:srgbClr val="2496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742432" y="3364992"/>
            <a:ext cx="3447288" cy="704088"/>
          </a:xfrm>
          <a:prstGeom prst="line">
            <a:avLst/>
          </a:prstGeom>
          <a:ln w="33020">
            <a:solidFill>
              <a:srgbClr val="EE99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035040" y="4069080"/>
            <a:ext cx="132588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249656"/>
                </a:solidFill>
                <a:latin typeface="Thonburi"/>
              </a:rPr>
              <a:t>กดรับทราบ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4069080"/>
            <a:ext cx="109728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EE9930"/>
                </a:solidFill>
                <a:latin typeface="Aptos"/>
              </a:rPr>
              <a:t>timeout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24128" y="5074920"/>
            <a:ext cx="9966960" cy="502920"/>
          </a:xfrm>
          <a:prstGeom prst="roundRect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5230368"/>
            <a:ext cx="946404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80" b="1">
                <a:solidFill>
                  <a:srgbClr val="2E66D6"/>
                </a:solidFill>
                <a:latin typeface="Thonburi"/>
              </a:rPr>
              <a:t>ข้อดีของ binary + acknowledge: ลด false escalation และให้ caregiver เป็นคนตัดสินบริบทจริง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" y="6144768"/>
            <a:ext cx="10972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" b="0">
                <a:solidFill>
                  <a:srgbClr val="5B6775"/>
                </a:solidFill>
                <a:latin typeface="Thonburi"/>
              </a:rPr>
              <a:t>ที่มา: Local source: routes/predict.js, routes/alert.js, services/escalationService.js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6428232"/>
            <a:ext cx="11045952" cy="9144"/>
          </a:xfrm>
          <a:prstGeom prst="rect">
            <a:avLst/>
          </a:prstGeom>
          <a:solidFill>
            <a:srgbClr val="DE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55480" y="6501384"/>
            <a:ext cx="2057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>
                <a:solidFill>
                  <a:srgbClr val="5B6775"/>
                </a:solidFill>
                <a:latin typeface="Aptos"/>
              </a:rPr>
              <a:t>18:00 - 19:10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E63946"/>
                </a:solidFill>
                <a:latin typeface="Aptos"/>
              </a:rPr>
              <a:t>แอปผู้ดูแล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92608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775"/>
                </a:solidFill>
                <a:latin typeface="Aptos"/>
              </a:rPr>
              <a:t>18/25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6692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B232E"/>
                </a:solidFill>
                <a:latin typeface="Thonburi"/>
              </a:rPr>
              <a:t>แอป Middle พร้อมเป็นหน้าจอหลักของผู้ดูแล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371600"/>
            <a:ext cx="10607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B6775"/>
                </a:solidFill>
                <a:latin typeface="Thonburi"/>
              </a:rPr>
              <a:t>มี alert list, notification, acknowledge และ screen flow สำหรับบ้าน/อุปกรณ์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1828800"/>
            <a:ext cx="3337560" cy="1965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1828800"/>
            <a:ext cx="73152" cy="196596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984248"/>
            <a:ext cx="300837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B232E"/>
                </a:solidFill>
                <a:latin typeface="Thonburi"/>
              </a:rPr>
              <a:t>Live alerts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340864"/>
            <a:ext cx="2953512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B6775"/>
                </a:solidFill>
                <a:latin typeface="Thonburi"/>
              </a:rPr>
              <a:t>poll /events/falls ทุก 4 วินาที
merge เข้า AlertsContext
แสดง active/completed/no_response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5696" y="1828800"/>
            <a:ext cx="3337560" cy="1965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25696" y="1828800"/>
            <a:ext cx="73152" cy="1965960"/>
          </a:xfrm>
          <a:prstGeom prst="rect">
            <a:avLst/>
          </a:prstGeom>
          <a:solidFill>
            <a:srgbClr val="249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6864" y="1984248"/>
            <a:ext cx="300837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B232E"/>
                </a:solidFill>
                <a:latin typeface="Thonburi"/>
              </a:rPr>
              <a:t>Acknowledge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6864" y="2340864"/>
            <a:ext cx="2953512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B6775"/>
                </a:solidFill>
                <a:latin typeface="Thonburi"/>
              </a:rPr>
              <a:t>caregiver กด confirm
POST /alert/ack/:event_id
ยกเลิก escalation timer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828800"/>
            <a:ext cx="3337560" cy="1965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5008" y="1828800"/>
            <a:ext cx="73152" cy="1965960"/>
          </a:xfrm>
          <a:prstGeom prst="rect">
            <a:avLst/>
          </a:prstGeom>
          <a:solidFill>
            <a:srgbClr val="2E6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66176" y="1984248"/>
            <a:ext cx="300837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B232E"/>
                </a:solidFill>
                <a:latin typeface="Thonburi"/>
              </a:rPr>
              <a:t>Push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6176" y="2340864"/>
            <a:ext cx="2953512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B6775"/>
                </a:solidFill>
                <a:latin typeface="Thonburi"/>
              </a:rPr>
              <a:t>ลงทะเบียน Expo token
รับ notification tap
route กลับ /home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4681728"/>
            <a:ext cx="64008" cy="16459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572000"/>
            <a:ext cx="100584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20" b="0">
                <a:solidFill>
                  <a:srgbClr val="1B232E"/>
                </a:solidFill>
                <a:latin typeface="Thonburi"/>
              </a:rPr>
              <a:t>UI screens พร้อมสำหรับบ้าน, members, devices, contacts, notifications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5102352"/>
            <a:ext cx="64008" cy="16459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992624"/>
            <a:ext cx="100584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20" b="0">
                <a:solidFill>
                  <a:srgbClr val="1B232E"/>
                </a:solidFill>
                <a:latin typeface="Thonburi"/>
              </a:rPr>
              <a:t>ข้อค้าง: API URL/API key และ Supabase config ยังเป็น development defaults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" y="6144768"/>
            <a:ext cx="10972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" b="0">
                <a:solidFill>
                  <a:srgbClr val="5B6775"/>
                </a:solidFill>
                <a:latin typeface="Thonburi"/>
              </a:rPr>
              <a:t>ที่มา: Local source: app/home.tsx, app/_layout.tsx, hooks/useLiveAlerts.ts, lib/api.ts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428232"/>
            <a:ext cx="11045952" cy="9144"/>
          </a:xfrm>
          <a:prstGeom prst="rect">
            <a:avLst/>
          </a:prstGeom>
          <a:solidFill>
            <a:srgbClr val="DE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55480" y="6501384"/>
            <a:ext cx="2057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>
                <a:solidFill>
                  <a:srgbClr val="5B6775"/>
                </a:solidFill>
                <a:latin typeface="Aptos"/>
              </a:rPr>
              <a:t>19:10 - 20:10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E63946"/>
                </a:solidFill>
                <a:latin typeface="Aptos"/>
              </a:rPr>
              <a:t>ระบบหลังบ้าน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92608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775"/>
                </a:solidFill>
                <a:latin typeface="Aptos"/>
              </a:rPr>
              <a:t>19/25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6692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B232E"/>
                </a:solidFill>
                <a:latin typeface="Thonburi"/>
              </a:rPr>
              <a:t>ระบบหลังบ้านประสานโมเดล ฐานข้อมูล push และการโทร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371600"/>
            <a:ext cx="10607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B6775"/>
                </a:solidFill>
                <a:latin typeface="Thonburi"/>
              </a:rPr>
              <a:t>Express API เป็นตัวควบคุมลำดับการแจ้งเตือนฉุกเฉิน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73936"/>
            <a:ext cx="594360" cy="310896"/>
          </a:xfrm>
          <a:prstGeom prst="roundRect">
            <a:avLst/>
          </a:prstGeom>
          <a:solidFill>
            <a:srgbClr val="249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1819656"/>
            <a:ext cx="484632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Thonburi"/>
              </a:rPr>
              <a:t>done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737360"/>
            <a:ext cx="2331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B232E"/>
                </a:solidFill>
                <a:latin typeface="Aptos"/>
              </a:rPr>
              <a:t>Predict route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1737360"/>
            <a:ext cx="7040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30" b="0">
                <a:solidFill>
                  <a:srgbClr val="5B6775"/>
                </a:solidFill>
                <a:latin typeface="Thonburi"/>
              </a:rPr>
              <a:t>validate input, call ML, create event only on fall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487167"/>
            <a:ext cx="594360" cy="310896"/>
          </a:xfrm>
          <a:prstGeom prst="roundRect">
            <a:avLst/>
          </a:prstGeom>
          <a:solidFill>
            <a:srgbClr val="249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532887"/>
            <a:ext cx="484632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Thonburi"/>
              </a:rPr>
              <a:t>done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450591"/>
            <a:ext cx="2331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B232E"/>
                </a:solidFill>
                <a:latin typeface="Aptos"/>
              </a:rPr>
              <a:t>Events route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450591"/>
            <a:ext cx="7040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30" b="0">
                <a:solidFill>
                  <a:srgbClr val="5B6775"/>
                </a:solidFill>
                <a:latin typeface="Thonburi"/>
              </a:rPr>
              <a:t>list events และ fall-only events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200400"/>
            <a:ext cx="594360" cy="310896"/>
          </a:xfrm>
          <a:prstGeom prst="roundRect">
            <a:avLst/>
          </a:prstGeom>
          <a:solidFill>
            <a:srgbClr val="249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" y="3246120"/>
            <a:ext cx="484632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Thonburi"/>
              </a:rPr>
              <a:t>done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163824"/>
            <a:ext cx="2331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B232E"/>
                </a:solidFill>
                <a:latin typeface="Aptos"/>
              </a:rPr>
              <a:t>Push route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3163824"/>
            <a:ext cx="7040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30" b="0">
                <a:solidFill>
                  <a:srgbClr val="5B6775"/>
                </a:solidFill>
                <a:latin typeface="Thonburi"/>
              </a:rPr>
              <a:t>register token, send test fall notification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913632"/>
            <a:ext cx="594360" cy="310896"/>
          </a:xfrm>
          <a:prstGeom prst="roundRect">
            <a:avLst/>
          </a:prstGeom>
          <a:solidFill>
            <a:srgbClr val="249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" y="3959352"/>
            <a:ext cx="484632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Thonburi"/>
              </a:rPr>
              <a:t>done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3877056"/>
            <a:ext cx="2331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B232E"/>
                </a:solidFill>
                <a:latin typeface="Aptos"/>
              </a:rPr>
              <a:t>Alert route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3877056"/>
            <a:ext cx="7040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30" b="0">
                <a:solidFill>
                  <a:srgbClr val="5B6775"/>
                </a:solidFill>
                <a:latin typeface="Thonburi"/>
              </a:rPr>
              <a:t>ack event, test Twilio SMS/call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626864"/>
            <a:ext cx="594360" cy="310896"/>
          </a:xfrm>
          <a:prstGeom prst="roundRect">
            <a:avLst/>
          </a:prstGeom>
          <a:solidFill>
            <a:srgbClr val="249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" y="4672584"/>
            <a:ext cx="484632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Thonburi"/>
              </a:rPr>
              <a:t>done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590288"/>
            <a:ext cx="2331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B232E"/>
                </a:solidFill>
                <a:latin typeface="Aptos"/>
              </a:rPr>
              <a:t>Demo route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4590288"/>
            <a:ext cx="7040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30" b="0">
                <a:solidFill>
                  <a:srgbClr val="5B6775"/>
                </a:solidFill>
                <a:latin typeface="Thonburi"/>
              </a:rPr>
              <a:t>fire event โดยข้าม ML เพื่อโชว์ end-to-end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5440680"/>
            <a:ext cx="10149840" cy="457200"/>
          </a:xfrm>
          <a:prstGeom prst="roundRect">
            <a:avLst/>
          </a:prstGeom>
          <a:solidFill>
            <a:srgbClr val="FF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5559552"/>
            <a:ext cx="969264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AE2334"/>
                </a:solidFill>
                <a:latin typeface="Thonburi"/>
              </a:rPr>
              <a:t>Production risk: timers และ cooldown ยังอยู่ใน memory ถ้า server restart pending escalation จะหาย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" y="6144768"/>
            <a:ext cx="10972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" b="0">
                <a:solidFill>
                  <a:srgbClr val="5B6775"/>
                </a:solidFill>
                <a:latin typeface="Thonburi"/>
              </a:rPr>
              <a:t>ที่มา: Local source: express_api/src/routes/*.js, services/*.js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6428232"/>
            <a:ext cx="11045952" cy="9144"/>
          </a:xfrm>
          <a:prstGeom prst="rect">
            <a:avLst/>
          </a:prstGeom>
          <a:solidFill>
            <a:srgbClr val="DE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55480" y="6501384"/>
            <a:ext cx="2057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>
                <a:solidFill>
                  <a:srgbClr val="5B6775"/>
                </a:solidFill>
                <a:latin typeface="Aptos"/>
              </a:rPr>
              <a:t>20:10 - 21:10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E63946"/>
                </a:solidFill>
                <a:latin typeface="Aptos"/>
              </a:rPr>
              <a:t>อุปกรณ์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92608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775"/>
                </a:solidFill>
                <a:latin typeface="Aptos"/>
              </a:rPr>
              <a:t>20/25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6692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B232E"/>
                </a:solidFill>
                <a:latin typeface="Thonburi"/>
              </a:rPr>
              <a:t>อุปกรณ์พร้อมโชว์สัญญาณ CSI ดิบและเก็บข้อมูลเพิ่ม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371600"/>
            <a:ext cx="10607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B6775"/>
                </a:solidFill>
                <a:latin typeface="Thonburi"/>
              </a:rPr>
              <a:t>serial mode เหมาะกับการเก็บ dataset และ demo raw signal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3246120" cy="1965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828800"/>
            <a:ext cx="73152" cy="196596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984248"/>
            <a:ext cx="29169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B232E"/>
                </a:solidFill>
                <a:latin typeface="Thonburi"/>
              </a:rPr>
              <a:t>ESP32 AP/STA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340864"/>
            <a:ext cx="2862072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B6775"/>
                </a:solidFill>
                <a:latin typeface="Thonburi"/>
              </a:rPr>
              <a:t>receiver สร้าง CSI network
sender ส่ง packet ต่อเนื่อง
ตั้ง channel ให้คุม environment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3984" y="1828800"/>
            <a:ext cx="3246120" cy="1965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43984" y="1828800"/>
            <a:ext cx="73152" cy="1965960"/>
          </a:xfrm>
          <a:prstGeom prst="rect">
            <a:avLst/>
          </a:prstGeom>
          <a:solidFill>
            <a:srgbClr val="2E6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2" y="1984248"/>
            <a:ext cx="29169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B232E"/>
                </a:solidFill>
                <a:latin typeface="Thonburi"/>
              </a:rPr>
              <a:t>USB Serial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2340864"/>
            <a:ext cx="2862072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B6775"/>
                </a:solidFill>
                <a:latin typeface="Thonburi"/>
              </a:rPr>
              <a:t>อ่าน CSI ที่ 921600 baud
ลดปัญหา firewall/hotspot
Mac ยังต่อ WiFi ปกติได้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828800"/>
            <a:ext cx="3246120" cy="1965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5008" y="1828800"/>
            <a:ext cx="73152" cy="1965960"/>
          </a:xfrm>
          <a:prstGeom prst="rect">
            <a:avLst/>
          </a:prstGeom>
          <a:solidFill>
            <a:srgbClr val="008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66176" y="1984248"/>
            <a:ext cx="291693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B232E"/>
                </a:solidFill>
                <a:latin typeface="Thonburi"/>
              </a:rPr>
              <a:t>Live demo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6176" y="2340864"/>
            <a:ext cx="2862072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B6775"/>
                </a:solidFill>
                <a:latin typeface="Thonburi"/>
              </a:rPr>
              <a:t>โชว์ packet flow + raw signal response
แยกชัดว่า raw signal ไม่ใช่ proof ของ model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7552" y="4590288"/>
            <a:ext cx="1019556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4440" y="4809744"/>
            <a:ext cx="96926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B232E"/>
                </a:solidFill>
                <a:latin typeface="Thonburi"/>
              </a:rPr>
              <a:t>สิ่งที่ทำแล้ว: collector, ESP checker, preprocess pipeline, model artifacts และคู่มือ live demo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" y="6144768"/>
            <a:ext cx="10972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" b="0">
                <a:solidFill>
                  <a:srgbClr val="5B6775"/>
                </a:solidFill>
                <a:latin typeface="Thonburi"/>
              </a:rPr>
              <a:t>ที่มา: Local source: CLAUDE.md, csi_collector_serial.py, esp_checker.py, live_demo_manual.md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6428232"/>
            <a:ext cx="11045952" cy="9144"/>
          </a:xfrm>
          <a:prstGeom prst="rect">
            <a:avLst/>
          </a:prstGeom>
          <a:solidFill>
            <a:srgbClr val="DE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55480" y="6501384"/>
            <a:ext cx="2057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>
                <a:solidFill>
                  <a:srgbClr val="5B6775"/>
                </a:solidFill>
                <a:latin typeface="Aptos"/>
              </a:rPr>
              <a:t>21:10 - 22:10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E63946"/>
                </a:solidFill>
                <a:latin typeface="Aptos"/>
              </a:rPr>
              <a:t>ความคืบหน้า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92608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775"/>
                </a:solidFill>
                <a:latin typeface="Aptos"/>
              </a:rPr>
              <a:t>21/25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6692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B232E"/>
                </a:solidFill>
                <a:latin typeface="Thonburi"/>
              </a:rPr>
              <a:t>ตอนนี้เรามีต้นแบบครบวงจรแล้ว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371600"/>
            <a:ext cx="10607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B6775"/>
                </a:solidFill>
                <a:latin typeface="Thonburi"/>
              </a:rPr>
              <a:t>มองเป็น deliverable แทนแค่รายการไฟล์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3182112" cy="103327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783080"/>
            <a:ext cx="73152" cy="1033271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938528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1B232E"/>
                </a:solidFill>
                <a:latin typeface="Thonburi"/>
              </a:rPr>
              <a:t>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295144"/>
            <a:ext cx="2798064" cy="3931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5B6775"/>
                </a:solidFill>
                <a:latin typeface="Thonburi"/>
              </a:rPr>
              <a:t>preprocess + RF active inference + LSTM/RF artifacts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783080"/>
            <a:ext cx="3182112" cy="103327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07408" y="1783080"/>
            <a:ext cx="73152" cy="1033271"/>
          </a:xfrm>
          <a:prstGeom prst="rect">
            <a:avLst/>
          </a:prstGeom>
          <a:solidFill>
            <a:srgbClr val="2E6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1938528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1B232E"/>
                </a:solidFill>
                <a:latin typeface="Thonburi"/>
              </a:rPr>
              <a:t>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295144"/>
            <a:ext cx="2798064" cy="3931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5B6775"/>
                </a:solidFill>
                <a:latin typeface="Thonburi"/>
              </a:rPr>
              <a:t>predict, events, ack, push, demo, Twilio integration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783080"/>
            <a:ext cx="3182112" cy="103327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5008" y="1783080"/>
            <a:ext cx="73152" cy="1033271"/>
          </a:xfrm>
          <a:prstGeom prst="rect">
            <a:avLst/>
          </a:prstGeom>
          <a:solidFill>
            <a:srgbClr val="008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66176" y="1938528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1B232E"/>
                </a:solidFill>
                <a:latin typeface="Thonburi"/>
              </a:rPr>
              <a:t>Database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6176" y="2295144"/>
            <a:ext cx="2798064" cy="3931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5B6775"/>
                </a:solidFill>
                <a:latin typeface="Thonburi"/>
              </a:rPr>
              <a:t>Supabase schema: fall_events, push_tokens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172968"/>
            <a:ext cx="3182112" cy="103327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9808" y="3172968"/>
            <a:ext cx="73152" cy="1033271"/>
          </a:xfrm>
          <a:prstGeom prst="rect">
            <a:avLst/>
          </a:prstGeom>
          <a:solidFill>
            <a:srgbClr val="249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" y="3328416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1B232E"/>
                </a:solidFill>
                <a:latin typeface="Thonburi"/>
              </a:rPr>
              <a:t>Mobile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" y="3685032"/>
            <a:ext cx="2798064" cy="3931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5B6775"/>
                </a:solidFill>
                <a:latin typeface="Thonburi"/>
              </a:rPr>
              <a:t>alert list, acknowledge, notification registration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07408" y="3172968"/>
            <a:ext cx="3182112" cy="103327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07408" y="3172968"/>
            <a:ext cx="73152" cy="1033271"/>
          </a:xfrm>
          <a:prstGeom prst="rect">
            <a:avLst/>
          </a:prstGeom>
          <a:solidFill>
            <a:srgbClr val="6F5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08576" y="3328416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1B232E"/>
                </a:solidFill>
                <a:latin typeface="Thonburi"/>
              </a:rPr>
              <a:t>Hardware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08576" y="3685032"/>
            <a:ext cx="2798064" cy="3931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5B6775"/>
                </a:solidFill>
                <a:latin typeface="Thonburi"/>
              </a:rPr>
              <a:t>ESP32 CSI collection through USB serial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65008" y="3172968"/>
            <a:ext cx="3182112" cy="103327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65008" y="3172968"/>
            <a:ext cx="73152" cy="1033271"/>
          </a:xfrm>
          <a:prstGeom prst="rect">
            <a:avLst/>
          </a:prstGeom>
          <a:solidFill>
            <a:srgbClr val="EE9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66176" y="3328416"/>
            <a:ext cx="2852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1B232E"/>
                </a:solidFill>
                <a:latin typeface="Thonburi"/>
              </a:rPr>
              <a:t>Demo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66176" y="3685032"/>
            <a:ext cx="2798064" cy="3931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5B6775"/>
                </a:solidFill>
                <a:latin typeface="Thonburi"/>
              </a:rPr>
              <a:t>manual + shortcut endpoint for end-to-end presentation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5840" y="5166360"/>
            <a:ext cx="10195560" cy="5943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34440" y="5340096"/>
            <a:ext cx="973836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20" b="1">
                <a:solidFill>
                  <a:srgbClr val="FFFFFF"/>
                </a:solidFill>
                <a:latin typeface="Thonburi"/>
              </a:rPr>
              <a:t>สถานะจริง: prototype end-to-end พร้อมเล่าเป็นระบบ แต่ evaluation real-world ยังเป็นงานหลักที่ต้องทำต่อ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6428232"/>
            <a:ext cx="11045952" cy="9144"/>
          </a:xfrm>
          <a:prstGeom prst="rect">
            <a:avLst/>
          </a:prstGeom>
          <a:solidFill>
            <a:srgbClr val="DE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55480" y="6501384"/>
            <a:ext cx="2057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>
                <a:solidFill>
                  <a:srgbClr val="5B6775"/>
                </a:solidFill>
                <a:latin typeface="Aptos"/>
              </a:rPr>
              <a:t>22:10 - 23:00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E63946"/>
                </a:solidFill>
                <a:latin typeface="Aptos"/>
              </a:rPr>
              <a:t>ข้อจำกัด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92608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775"/>
                </a:solidFill>
                <a:latin typeface="Aptos"/>
              </a:rPr>
              <a:t>22/25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6692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B232E"/>
                </a:solidFill>
                <a:latin typeface="Thonburi"/>
              </a:rPr>
              <a:t>ข้อจำกัดสำคัญคือความแม่นยำเมื่อเปลี่ยนสภาพแวดล้อม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371600"/>
            <a:ext cx="10607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B6775"/>
                </a:solidFill>
                <a:latin typeface="Thonburi"/>
              </a:rPr>
              <a:t>ต้องแยกผล offline, demo และ real-world validation ออกจากกันให้ชัด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" y="1783080"/>
            <a:ext cx="498348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" y="1783080"/>
            <a:ext cx="73152" cy="107899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38528"/>
            <a:ext cx="465429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B232E"/>
                </a:solidFill>
                <a:latin typeface="Thonburi"/>
              </a:rPr>
              <a:t>Domain shift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295144"/>
            <a:ext cx="459943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20" b="0">
                <a:solidFill>
                  <a:srgbClr val="5B6775"/>
                </a:solidFill>
                <a:latin typeface="Thonburi"/>
              </a:rPr>
              <a:t>โมเดลอาจยึดติดกับห้อง มุมวาง และคนที่ใช้ train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1783080"/>
            <a:ext cx="498348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91072" y="1783080"/>
            <a:ext cx="73152" cy="1078992"/>
          </a:xfrm>
          <a:prstGeom prst="rect">
            <a:avLst/>
          </a:prstGeom>
          <a:solidFill>
            <a:srgbClr val="EE9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938528"/>
            <a:ext cx="465429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B232E"/>
                </a:solidFill>
                <a:latin typeface="Thonburi"/>
              </a:rPr>
              <a:t>False alarms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295144"/>
            <a:ext cx="459943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20" b="0">
                <a:solidFill>
                  <a:srgbClr val="5B6775"/>
                </a:solidFill>
                <a:latin typeface="Thonburi"/>
              </a:rPr>
              <a:t>กิจกรรมคล้ายล้ม เช่น นั่งลงเร็วหรือก้ม อาจ trigger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" y="3291839"/>
            <a:ext cx="498348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" y="3291839"/>
            <a:ext cx="73152" cy="1078992"/>
          </a:xfrm>
          <a:prstGeom prst="rect">
            <a:avLst/>
          </a:prstGeom>
          <a:solidFill>
            <a:srgbClr val="2E6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447287"/>
            <a:ext cx="465429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B232E"/>
                </a:solidFill>
                <a:latin typeface="Thonburi"/>
              </a:rPr>
              <a:t>Durability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803903"/>
            <a:ext cx="459943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20" b="0">
                <a:solidFill>
                  <a:srgbClr val="5B6775"/>
                </a:solidFill>
                <a:latin typeface="Thonburi"/>
              </a:rPr>
              <a:t>ack timer ยังเป็น in-memory ต้องใช้ Redis/BullMQ สำหรับ production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1072" y="3291839"/>
            <a:ext cx="498348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91072" y="3291839"/>
            <a:ext cx="73152" cy="1078992"/>
          </a:xfrm>
          <a:prstGeom prst="rect">
            <a:avLst/>
          </a:prstGeom>
          <a:solidFill>
            <a:srgbClr val="6F5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3447287"/>
            <a:ext cx="465429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B232E"/>
                </a:solidFill>
                <a:latin typeface="Thonburi"/>
              </a:rPr>
              <a:t>Configuration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803903"/>
            <a:ext cx="459943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20" b="0">
                <a:solidFill>
                  <a:srgbClr val="5B6775"/>
                </a:solidFill>
                <a:latin typeface="Thonburi"/>
              </a:rPr>
              <a:t>API key, API base URL, Supabase config ยังเป็น dev defaults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" y="5120640"/>
            <a:ext cx="10195560" cy="658368"/>
          </a:xfrm>
          <a:prstGeom prst="roundRect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34440" y="5303520"/>
            <a:ext cx="973836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80" b="1">
                <a:solidFill>
                  <a:srgbClr val="2E66D6"/>
                </a:solidFill>
                <a:latin typeface="Thonburi"/>
              </a:rPr>
              <a:t>คำตอบเชิงวิศวกรรม: แยก demo, offline metric, และ real-world validation ออกจากกันให้ชัด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6428232"/>
            <a:ext cx="11045952" cy="9144"/>
          </a:xfrm>
          <a:prstGeom prst="rect">
            <a:avLst/>
          </a:prstGeom>
          <a:solidFill>
            <a:srgbClr val="DE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55480" y="6501384"/>
            <a:ext cx="2057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>
                <a:solidFill>
                  <a:srgbClr val="5B6775"/>
                </a:solidFill>
                <a:latin typeface="Aptos"/>
              </a:rPr>
              <a:t>23:00 - 23:40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E63946"/>
                </a:solidFill>
                <a:latin typeface="Aptos"/>
              </a:rPr>
              <a:t>แผนต่อไป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92608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775"/>
                </a:solidFill>
                <a:latin typeface="Aptos"/>
              </a:rPr>
              <a:t>23/25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6692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B232E"/>
                </a:solidFill>
                <a:latin typeface="Thonburi"/>
              </a:rPr>
              <a:t>งานต่อไปคือพิสูจน์ความน่าเชื่อถือก่อนใช้งานจริง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371600"/>
            <a:ext cx="10607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B6775"/>
                </a:solidFill>
                <a:latin typeface="Thonburi"/>
              </a:rPr>
              <a:t>เอา gap จาก literature มาแปลงเป็น evaluation plan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2267712" cy="2240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08176" y="2148840"/>
            <a:ext cx="713232" cy="713232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8176" y="2359152"/>
            <a:ext cx="713232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3063240"/>
            <a:ext cx="1874519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1B232E"/>
                </a:solidFill>
                <a:latin typeface="Thonburi"/>
              </a:rPr>
              <a:t>Unseen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429000"/>
            <a:ext cx="1874519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30" b="0">
                <a:solidFill>
                  <a:srgbClr val="5B6775"/>
                </a:solidFill>
                <a:latin typeface="Thonburi"/>
              </a:rPr>
              <a:t>แยกคน ห้อง มุมวาง และท่าคล้ายล้มออกจาก train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38727" y="1874519"/>
            <a:ext cx="2267712" cy="2240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197095" y="2148840"/>
            <a:ext cx="713232" cy="713232"/>
          </a:xfrm>
          <a:prstGeom prst="ellipse">
            <a:avLst/>
          </a:prstGeom>
          <a:solidFill>
            <a:srgbClr val="2E6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97095" y="2359152"/>
            <a:ext cx="713232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9895" y="3063240"/>
            <a:ext cx="1874519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1B232E"/>
                </a:solidFill>
                <a:latin typeface="Thonburi"/>
              </a:rPr>
              <a:t>Threshold tuning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9895" y="3429000"/>
            <a:ext cx="1874519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30" b="0">
                <a:solidFill>
                  <a:srgbClr val="5B6775"/>
                </a:solidFill>
                <a:latin typeface="Thonburi"/>
              </a:rPr>
              <a:t>ROC/PR curve เพื่อเลือก threshold จาก false alarm target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7648" y="1874519"/>
            <a:ext cx="2267712" cy="2240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986016" y="2148840"/>
            <a:ext cx="713232" cy="713232"/>
          </a:xfrm>
          <a:prstGeom prst="ellipse">
            <a:avLst/>
          </a:prstGeom>
          <a:solidFill>
            <a:srgbClr val="008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86016" y="2359152"/>
            <a:ext cx="713232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8816" y="3063240"/>
            <a:ext cx="1874519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1B232E"/>
                </a:solidFill>
                <a:latin typeface="Thonburi"/>
              </a:rPr>
              <a:t>Real-time trial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8816" y="3429000"/>
            <a:ext cx="1874519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30" b="0">
                <a:solidFill>
                  <a:srgbClr val="5B6775"/>
                </a:solidFill>
                <a:latin typeface="Thonburi"/>
              </a:rPr>
              <a:t>วัด latency, missed fall, false alarm ใน session จริง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16567" y="1874519"/>
            <a:ext cx="2267712" cy="2240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774935" y="2148840"/>
            <a:ext cx="713232" cy="713232"/>
          </a:xfrm>
          <a:prstGeom prst="ellipse">
            <a:avLst/>
          </a:prstGeom>
          <a:solidFill>
            <a:srgbClr val="249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74935" y="2359152"/>
            <a:ext cx="713232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17735" y="3063240"/>
            <a:ext cx="1874519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1B232E"/>
                </a:solidFill>
                <a:latin typeface="Thonburi"/>
              </a:rPr>
              <a:t>Production hardening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17735" y="3429000"/>
            <a:ext cx="1874519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30" b="0">
                <a:solidFill>
                  <a:srgbClr val="5B6775"/>
                </a:solidFill>
                <a:latin typeface="Thonburi"/>
              </a:rPr>
              <a:t>persistent queue/timer, env config, deployment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15568" y="5074920"/>
            <a:ext cx="9966960" cy="566928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53312" y="5239512"/>
            <a:ext cx="949147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20" b="1">
                <a:solidFill>
                  <a:srgbClr val="FFFFFF"/>
                </a:solidFill>
                <a:latin typeface="Thonburi"/>
              </a:rPr>
              <a:t>Success criteria: Fall recall สูง, false alarm ต่ำ, และ caregiver workflow ทำงานครบในสถานการณ์จริง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6428232"/>
            <a:ext cx="11045952" cy="9144"/>
          </a:xfrm>
          <a:prstGeom prst="rect">
            <a:avLst/>
          </a:prstGeom>
          <a:solidFill>
            <a:srgbClr val="DE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55480" y="6501384"/>
            <a:ext cx="2057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>
                <a:solidFill>
                  <a:srgbClr val="5B6775"/>
                </a:solidFill>
                <a:latin typeface="Aptos"/>
              </a:rPr>
              <a:t>23:40 - 24:00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E63946"/>
                </a:solidFill>
                <a:latin typeface="Aptos"/>
              </a:rPr>
              <a:t>ถามตอบ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92608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775"/>
                </a:solidFill>
                <a:latin typeface="Aptos"/>
              </a:rPr>
              <a:t>24/25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Thonburi"/>
              </a:rPr>
              <a:t>พร้อมตอบคำถาม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196596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E5EDF5"/>
                </a:solidFill>
                <a:latin typeface="Thonburi"/>
              </a:rPr>
              <a:t>ประเด็นที่เตรียมตอบ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624328"/>
            <a:ext cx="64008" cy="16459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514600"/>
            <a:ext cx="54864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D6E0EA"/>
                </a:solidFill>
                <a:latin typeface="Thonburi"/>
              </a:rPr>
              <a:t>ทำไมเลือก WiFi CSI แทนกล้องหรือ wearable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127248"/>
            <a:ext cx="64008" cy="16459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017520"/>
            <a:ext cx="54864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D6E0EA"/>
                </a:solidFill>
                <a:latin typeface="Thonburi"/>
              </a:rPr>
              <a:t>ตัวเลข accuracy กับ real-world reliability ต่างกันอย่างไร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630168"/>
            <a:ext cx="64008" cy="16459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520440"/>
            <a:ext cx="54864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D6E0EA"/>
                </a:solidFill>
                <a:latin typeface="Thonburi"/>
              </a:rPr>
              <a:t>ตอนนี้ active model เป็นอะไร และทำไมเปลี่ยนจาก LSTM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133088"/>
            <a:ext cx="64008" cy="16459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023360"/>
            <a:ext cx="54864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D6E0EA"/>
                </a:solidFill>
                <a:latin typeface="Thonburi"/>
              </a:rPr>
              <a:t>ถ้า false alarm หรือ server restart ระบบจะทำอย่างไรต่อ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1463040"/>
            <a:ext cx="3383280" cy="3566160"/>
          </a:xfrm>
          <a:prstGeom prst="round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2212848"/>
            <a:ext cx="26517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E63946"/>
                </a:solidFill>
                <a:latin typeface="Aptos"/>
              </a:rPr>
              <a:t>24:00 - 30:00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2880360"/>
            <a:ext cx="26517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1B232E"/>
                </a:solidFill>
                <a:latin typeface="Thonburi"/>
              </a:rPr>
              <a:t>Q&amp;A
+ backup references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6428232"/>
            <a:ext cx="11045952" cy="9144"/>
          </a:xfrm>
          <a:prstGeom prst="rect">
            <a:avLst/>
          </a:prstGeom>
          <a:solidFill>
            <a:srgbClr val="DE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55480" y="6501384"/>
            <a:ext cx="2057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>
                <a:solidFill>
                  <a:srgbClr val="5B6775"/>
                </a:solidFill>
                <a:latin typeface="Aptos"/>
              </a:rPr>
              <a:t>24:00 - 30:00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E63946"/>
                </a:solidFill>
                <a:latin typeface="Aptos"/>
              </a:rPr>
              <a:t>อ้างอิง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92608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775"/>
                </a:solidFill>
                <a:latin typeface="Aptos"/>
              </a:rPr>
              <a:t>25/25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6692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B232E"/>
                </a:solidFill>
                <a:latin typeface="Thonburi"/>
              </a:rPr>
              <a:t>แหล่งอ้างอิงหลัก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371600"/>
            <a:ext cx="10607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B6775"/>
                </a:solidFill>
                <a:latin typeface="Thonburi"/>
              </a:rPr>
              <a:t>สไลด์นี้เป็น backup สำหรับคำถามเรื่องที่มาและ literature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737360"/>
            <a:ext cx="54864" cy="14630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64208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80" b="0">
                <a:solidFill>
                  <a:srgbClr val="1B232E"/>
                </a:solidFill>
                <a:latin typeface="Aptos"/>
              </a:rPr>
              <a:t>WHO. Falls fact sheet. 2021. https://www.who.int/en/news-room/fact-sheets/detail/falls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2148840"/>
            <a:ext cx="54864" cy="14630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075688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80" b="0">
                <a:solidFill>
                  <a:srgbClr val="1B232E"/>
                </a:solidFill>
                <a:latin typeface="Aptos"/>
              </a:rPr>
              <a:t>CDC. Facts About Falls. 2026. https://www.cdc.gov/falls/data-research/facts-stats/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2560320"/>
            <a:ext cx="54864" cy="146304"/>
          </a:xfrm>
          <a:prstGeom prst="rect">
            <a:avLst/>
          </a:prstGeom>
          <a:solidFill>
            <a:srgbClr val="2E6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487168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80" b="0">
                <a:solidFill>
                  <a:srgbClr val="5B6775"/>
                </a:solidFill>
                <a:latin typeface="Thonburi"/>
              </a:rPr>
              <a:t>Chaudhuri, S., Thompson, H., &amp; Demiris, G. Fall Detection Devices and their Use with Older Adults. 2014.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2971800"/>
            <a:ext cx="54864" cy="146304"/>
          </a:xfrm>
          <a:prstGeom prst="rect">
            <a:avLst/>
          </a:prstGeom>
          <a:solidFill>
            <a:srgbClr val="2E6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898648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80" b="0">
                <a:solidFill>
                  <a:srgbClr val="5B6775"/>
                </a:solidFill>
                <a:latin typeface="Thonburi"/>
              </a:rPr>
              <a:t>Petersen et al. Are wearable devices effective for preventing and detecting falls: umbrella review. 2020.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3383280"/>
            <a:ext cx="54864" cy="146304"/>
          </a:xfrm>
          <a:prstGeom prst="rect">
            <a:avLst/>
          </a:prstGeom>
          <a:solidFill>
            <a:srgbClr val="2E6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310128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80" b="0">
                <a:solidFill>
                  <a:srgbClr val="5B6775"/>
                </a:solidFill>
                <a:latin typeface="Aptos"/>
              </a:rPr>
              <a:t>Wang et al. RT-Fall: A Real-Time and Contactless Fall Detection System with Commodity WiFi Devices. IEEE TMC, 2017.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3794760"/>
            <a:ext cx="54864" cy="146304"/>
          </a:xfrm>
          <a:prstGeom prst="rect">
            <a:avLst/>
          </a:prstGeom>
          <a:solidFill>
            <a:srgbClr val="2E6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721608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80" b="0">
                <a:solidFill>
                  <a:srgbClr val="5B6775"/>
                </a:solidFill>
                <a:latin typeface="Aptos"/>
              </a:rPr>
              <a:t>Zhang et al. Anti-Fall: Non-intrusive and Real-time Fall Detector Leveraging CSI. 2015.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" y="4206240"/>
            <a:ext cx="54864" cy="146304"/>
          </a:xfrm>
          <a:prstGeom prst="rect">
            <a:avLst/>
          </a:prstGeom>
          <a:solidFill>
            <a:srgbClr val="2E6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133088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80" b="0">
                <a:solidFill>
                  <a:srgbClr val="5B6775"/>
                </a:solidFill>
                <a:latin typeface="Aptos"/>
              </a:rPr>
              <a:t>Damodaran et al. Device free human activity and fall recognition using WiFi CSI. 2020.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4617720"/>
            <a:ext cx="54864" cy="146304"/>
          </a:xfrm>
          <a:prstGeom prst="rect">
            <a:avLst/>
          </a:prstGeom>
          <a:solidFill>
            <a:srgbClr val="2E6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544568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80" b="0">
                <a:solidFill>
                  <a:srgbClr val="5B6775"/>
                </a:solidFill>
                <a:latin typeface="Aptos"/>
              </a:rPr>
              <a:t>Hernandez. ESP32-CSI-Tool. https://github.com/StevenMHernandez/ESP32-CSI-Tool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" y="5029200"/>
            <a:ext cx="54864" cy="146304"/>
          </a:xfrm>
          <a:prstGeom prst="rect">
            <a:avLst/>
          </a:prstGeom>
          <a:solidFill>
            <a:srgbClr val="2E6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956048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80" b="0">
                <a:solidFill>
                  <a:srgbClr val="5B6775"/>
                </a:solidFill>
                <a:latin typeface="Aptos"/>
              </a:rPr>
              <a:t>Espressif. esp-csi. https://github.com/espressif/esp-csi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2" y="5440680"/>
            <a:ext cx="54864" cy="146304"/>
          </a:xfrm>
          <a:prstGeom prst="rect">
            <a:avLst/>
          </a:prstGeom>
          <a:solidFill>
            <a:srgbClr val="2E6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367528"/>
            <a:ext cx="10789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80" b="0">
                <a:solidFill>
                  <a:srgbClr val="5B6775"/>
                </a:solidFill>
                <a:latin typeface="Aptos"/>
              </a:rPr>
              <a:t>Local repo sources: ml_service/app/predict.py, preprocess.py, express_api/src/routes, hooks/useLiveAlerts.ts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6428232"/>
            <a:ext cx="11045952" cy="9144"/>
          </a:xfrm>
          <a:prstGeom prst="rect">
            <a:avLst/>
          </a:prstGeom>
          <a:solidFill>
            <a:srgbClr val="DE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6501384"/>
            <a:ext cx="2057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>
                <a:solidFill>
                  <a:srgbClr val="5B6775"/>
                </a:solidFill>
                <a:latin typeface="Aptos"/>
              </a:rPr>
              <a:t>Backup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