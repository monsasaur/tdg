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20840" y="0"/>
            <a:ext cx="54864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5669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Thonburi"/>
              </a:rPr>
              <a:t>อัปเดตความคืบหน้าโครงการ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E8EEF5"/>
                </a:solidFill>
                <a:latin typeface="Thonburi"/>
              </a:rPr>
              <a:t>Fall Detection System
ด้วย WiFi CSI +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Thonburi"/>
              </a:rPr>
              <a:t>วันนี้จะเล่าว่า
ทำถึงไหนแล้ว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24528"/>
            <a:ext cx="1143000" cy="64008"/>
          </a:xfrm>
          <a:prstGeom prst="rect">
            <a:avLst/>
          </a:prstGeom>
          <a:solidFill>
            <a:srgbClr val="F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9E1EA"/>
                </a:solidFill>
                <a:latin typeface="Thonburi"/>
              </a:rPr>
              <a:t>และจะทำอะไรต่อ
ในเฟสถัดไป (Phase 2)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914400"/>
            <a:ext cx="3566160" cy="3566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097280"/>
            <a:ext cx="3566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C222A"/>
                </a:solidFill>
                <a:latin typeface="Thonburi"/>
              </a:rPr>
              <a:t>บ้าน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1828800"/>
            <a:ext cx="1691640" cy="1234440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67928" y="2331720"/>
            <a:ext cx="1234440" cy="73152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23960" y="1444752"/>
            <a:ext cx="685800" cy="685800"/>
          </a:xfrm>
          <a:prstGeom prst="ellipse">
            <a:avLst/>
          </a:prstGeom>
          <a:solidFill>
            <a:srgbClr val="FF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162288" y="2148840"/>
            <a:ext cx="0" cy="640080"/>
          </a:xfrm>
          <a:prstGeom prst="line">
            <a:avLst/>
          </a:prstGeom>
          <a:ln w="50800">
            <a:solidFill>
              <a:srgbClr val="1C2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759952" y="2487168"/>
            <a:ext cx="402336" cy="301752"/>
          </a:xfrm>
          <a:prstGeom prst="line">
            <a:avLst/>
          </a:prstGeom>
          <a:ln w="38100">
            <a:solidFill>
              <a:srgbClr val="1C2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2288" y="2487168"/>
            <a:ext cx="420624" cy="301752"/>
          </a:xfrm>
          <a:prstGeom prst="line">
            <a:avLst/>
          </a:prstGeom>
          <a:ln w="38100">
            <a:solidFill>
              <a:srgbClr val="1C2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297680"/>
            <a:ext cx="2834640" cy="731520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453128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21934"/>
                </a:solidFill>
                <a:latin typeface="Aptos"/>
              </a:rPr>
              <a:t>FALL ALERT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0:00 - 0:35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222A"/>
                </a:solidFill>
                <a:latin typeface="Thonburi"/>
              </a:rPr>
              <a:t>ทบทวนโจทย์เดิม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honburi"/>
              </a:rPr>
              <a:t>ทุกวิธีที่มีอยู่ต้องแลกบางอย่าง: privacy, การสวมใส่, หรือการกดขอความช่วยเหลือเอง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306324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267712"/>
            <a:ext cx="960120" cy="960120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2606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C222A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5"/>
            <a:ext cx="2423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Thonburi"/>
              </a:rPr>
              <a:t>เห็นภาพ
แต่เสีย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350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993392"/>
            <a:ext cx="306324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39" y="2267712"/>
            <a:ext cx="960120" cy="960120"/>
          </a:xfrm>
          <a:prstGeom prst="ellipse">
            <a:avLst/>
          </a:prstGeom>
          <a:solidFill>
            <a:srgbClr val="00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3401568"/>
            <a:ext cx="2606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C222A"/>
                </a:solidFill>
                <a:latin typeface="Thonburi"/>
              </a:rPr>
              <a:t>นาฬิกา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785615"/>
            <a:ext cx="2423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Thonburi"/>
              </a:rPr>
              <a:t>ดีถ้าใส่
แต่ผู้สูงอายุลืมได้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7" y="2350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1993392"/>
            <a:ext cx="306324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79" y="2267712"/>
            <a:ext cx="960120" cy="960120"/>
          </a:xfrm>
          <a:prstGeom prst="ellipse">
            <a:avLst/>
          </a:prstGeom>
          <a:solidFill>
            <a:srgbClr val="F09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3401568"/>
            <a:ext cx="2606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C222A"/>
                </a:solidFill>
                <a:latin typeface="Thonburi"/>
              </a:rPr>
              <a:t>ปุ่ม 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3785615"/>
            <a:ext cx="2423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Thonburi"/>
              </a:rPr>
              <a:t>ต้องกดเอง
ถ้าหมดสติกดไม่ได้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7" y="2350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892040"/>
            <a:ext cx="9372600" cy="758952"/>
          </a:xfrm>
          <a:prstGeom prst="round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074920"/>
            <a:ext cx="8915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Thonburi"/>
              </a:rPr>
              <a:t>โจทย์ของเรา: ตรวจจับอัตโนมัติ โดยไม่ใช้กล้อง และไม่ต้องใส่อุปกรณ์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0:35 - 1:15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CURRENT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222A"/>
                </a:solidFill>
                <a:latin typeface="Thonburi"/>
              </a:rPr>
              <a:t>ระบบที่ทำงานอยู่ตอนนี้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honburi"/>
              </a:rPr>
              <a:t>ตั้งแต่ ESP32 เก็บสัญญาณ ไปจนถึงแจ้งเตือนและโทรฉุกเฉินจริง — ทำงานครบ end-to-end แล้ว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176272"/>
            <a:ext cx="1143000" cy="1143000"/>
          </a:xfrm>
          <a:prstGeom prst="ellipse">
            <a:avLst/>
          </a:prstGeom>
          <a:solidFill>
            <a:srgbClr val="F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14300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9300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22A"/>
                </a:solidFill>
                <a:latin typeface="Thonburi"/>
              </a:rPr>
              <a:t>รับ WiFi CSI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2743200"/>
            <a:ext cx="457200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337560" y="2176272"/>
            <a:ext cx="1143000" cy="1143000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14600"/>
            <a:ext cx="114300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49300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22A"/>
                </a:solidFill>
                <a:latin typeface="Thonburi"/>
              </a:rPr>
              <a:t>fall / no_fall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44568" y="2743200"/>
            <a:ext cx="457200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623560" y="2176272"/>
            <a:ext cx="1143000" cy="1143000"/>
          </a:xfrm>
          <a:prstGeom prst="ellipse">
            <a:avLst/>
          </a:prstGeom>
          <a:solidFill>
            <a:srgbClr val="00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514600"/>
            <a:ext cx="114300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49300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22A"/>
                </a:solidFill>
                <a:latin typeface="Thonburi"/>
              </a:rPr>
              <a:t>แจ้งผู้ดูแล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30568" y="2743200"/>
            <a:ext cx="457200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09560" y="2176272"/>
            <a:ext cx="1143000" cy="1143000"/>
          </a:xfrm>
          <a:prstGeom prst="ellipse">
            <a:avLst/>
          </a:prstGeom>
          <a:solidFill>
            <a:srgbClr val="1C9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514600"/>
            <a:ext cx="114300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349300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22A"/>
                </a:solidFill>
                <a:latin typeface="Thonburi"/>
              </a:rPr>
              <a:t>กดรับทราบ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16568" y="2743200"/>
            <a:ext cx="457200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195560" y="2176272"/>
            <a:ext cx="1143000" cy="1143000"/>
          </a:xfrm>
          <a:prstGeom prst="ellipse">
            <a:avLst/>
          </a:prstGeom>
          <a:solidFill>
            <a:srgbClr val="F09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514600"/>
            <a:ext cx="114300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349300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22A"/>
                </a:solidFill>
                <a:latin typeface="Thonburi"/>
              </a:rPr>
              <a:t>โทรฉุกเฉิน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572000"/>
            <a:ext cx="4983480" cy="86868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73168"/>
            <a:ext cx="4526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369DC"/>
                </a:solidFill>
                <a:latin typeface="Thonburi"/>
              </a:rPr>
              <a:t>ถ้ากดรับทราบ → จบ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4983480" cy="868680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773168"/>
            <a:ext cx="4526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21934"/>
                </a:solidFill>
                <a:latin typeface="Thonburi"/>
              </a:rPr>
              <a:t>ถ้าไม่ตอบรับ 60 วินาที → SMS / Voice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1:15 - 2:05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RESULTS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222A"/>
                </a:solidFill>
                <a:latin typeface="Thonburi"/>
              </a:rPr>
              <a:t>ผลลัพธ์ที่ทำได้แล้ว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honburi"/>
              </a:rPr>
              <a:t>มี hardware ทำงานจริง, มี model จริง, และ deploy เป็นระบบใช้งานได้จริง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2514600"/>
          </a:xfrm>
          <a:prstGeom prst="rect">
            <a:avLst/>
          </a:prstGeom>
          <a:solidFill>
            <a:srgbClr val="F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222A"/>
                </a:solidFill>
                <a:latin typeface="Thonburi"/>
              </a:rPr>
              <a:t>1. Signal 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0007"/>
            <a:ext cx="3044952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Thonburi"/>
              </a:rPr>
              <a:t>ESP32 รับ CSI 100 packets/sec
52 subcarriers
เก็บข้อมูลแล้ว 420 ไฟล์ / 1,260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34290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28800"/>
            <a:ext cx="73152" cy="2514600"/>
          </a:xfrm>
          <a:prstGeom prst="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222A"/>
                </a:solidFill>
                <a:latin typeface="Thonburi"/>
              </a:rPr>
              <a:t>2. Model 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50007"/>
            <a:ext cx="3044952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Thonburi"/>
              </a:rPr>
              <a:t>LSTM v3: Accuracy 97.9%
Fall Recall 98.5%
Window=200, Stride=50, Seq=10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290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73152" cy="2514600"/>
          </a:xfrm>
          <a:prstGeom prst="rect">
            <a:avLst/>
          </a:prstGeom>
          <a:solidFill>
            <a:srgbClr val="00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99339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222A"/>
                </a:solidFill>
                <a:latin typeface="Thonburi"/>
              </a:rPr>
              <a:t>3. System 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350007"/>
            <a:ext cx="3044952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Thonburi"/>
              </a:rPr>
              <a:t>Backend + Supabase + Push
Acknowledge flow
Twilio escalation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074920"/>
            <a:ext cx="10287000" cy="658368"/>
          </a:xfrm>
          <a:prstGeom prst="round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9829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honburi"/>
              </a:rPr>
              <a:t>ประโยคสำคัญ: Accuracy สูงใน dataset ไม่พอ ต้องพิสูจน์กับ real-time และ unseen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2:05 - 3:00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222A"/>
                </a:solidFill>
                <a:latin typeface="Thonburi"/>
              </a:rPr>
              <a:t>Demo ระบบที่ทำงานอยู่จริง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honburi"/>
              </a:rPr>
              <a:t>โชว์เป็น 3 จังหวะ: สัญญาณนิ่ง → สัญญาณแกว่ง → แจ้งเตือนจริง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11680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2267712"/>
            <a:ext cx="685800" cy="685800"/>
          </a:xfrm>
          <a:prstGeom prst="ellipse">
            <a:avLst/>
          </a:prstGeom>
          <a:solidFill>
            <a:srgbClr val="00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404872"/>
            <a:ext cx="685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2331720"/>
            <a:ext cx="1920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C222A"/>
                </a:solidFill>
                <a:latin typeface="Thonburi"/>
              </a:rPr>
              <a:t>ยืนนิ่ง
กราฟนิ่ง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25296" y="3429000"/>
            <a:ext cx="2313432" cy="0"/>
          </a:xfrm>
          <a:prstGeom prst="line">
            <a:avLst/>
          </a:prstGeom>
          <a:ln w="38100">
            <a:solidFill>
              <a:srgbClr val="009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2011680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2267712"/>
            <a:ext cx="685800" cy="685800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404872"/>
            <a:ext cx="685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31720"/>
            <a:ext cx="1920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C222A"/>
                </a:solidFill>
                <a:latin typeface="Thonburi"/>
              </a:rPr>
              <a:t>เดิน
กราฟแกว่ง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56048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03520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50992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998464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45936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693408" y="3300984"/>
            <a:ext cx="201168" cy="256032"/>
          </a:xfrm>
          <a:prstGeom prst="line">
            <a:avLst/>
          </a:prstGeom>
          <a:ln w="381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02752" y="2011680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31352" y="2267712"/>
            <a:ext cx="685800" cy="685800"/>
          </a:xfrm>
          <a:prstGeom prst="ellipse">
            <a:avLst/>
          </a:prstGeom>
          <a:solidFill>
            <a:srgbClr val="F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1352" y="2404872"/>
            <a:ext cx="685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331720"/>
            <a:ext cx="1920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C222A"/>
                </a:solidFill>
                <a:latin typeface="Thonburi"/>
              </a:rPr>
              <a:t>ล้ม
กราฟกระชาก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3429000"/>
            <a:ext cx="850392" cy="0"/>
          </a:xfrm>
          <a:prstGeom prst="line">
            <a:avLst/>
          </a:prstGeom>
          <a:ln w="38100">
            <a:solidFill>
              <a:srgbClr val="FF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37192" y="3081528"/>
            <a:ext cx="274320" cy="347472"/>
          </a:xfrm>
          <a:prstGeom prst="line">
            <a:avLst/>
          </a:prstGeom>
          <a:ln w="50800">
            <a:solidFill>
              <a:srgbClr val="FF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11512" y="3081528"/>
            <a:ext cx="365759" cy="667512"/>
          </a:xfrm>
          <a:prstGeom prst="line">
            <a:avLst/>
          </a:prstGeom>
          <a:ln w="50800">
            <a:solidFill>
              <a:srgbClr val="FF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77271" y="3538728"/>
            <a:ext cx="822961" cy="210312"/>
          </a:xfrm>
          <a:prstGeom prst="line">
            <a:avLst/>
          </a:prstGeom>
          <a:ln w="38100">
            <a:solidFill>
              <a:srgbClr val="FF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011680" y="4846320"/>
            <a:ext cx="8138160" cy="713232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010912"/>
            <a:ext cx="7589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21934"/>
                </a:solidFill>
                <a:latin typeface="Thonburi"/>
              </a:rPr>
              <a:t>จุดจบ demo: แอปขึ้น Fall Alert → ผู้ดูแลกดรับทราบ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3:00 - 4:15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3055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C677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222A"/>
                </a:solidFill>
                <a:latin typeface="Thonburi"/>
              </a:rPr>
              <a:t>แผนต่อไป (Phase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honburi"/>
              </a:rPr>
              <a:t>งานที่ยังค้างและจะดำเนินการต่อ เรียงตาม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0574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57984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3055"/>
                </a:solidFill>
                <a:latin typeface="Aptos"/>
              </a:rPr>
              <a:t>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18288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Thonburi"/>
              </a:rPr>
              <a:t>Threshold 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011680"/>
            <a:ext cx="20574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157984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09A8E"/>
                </a:solidFill>
                <a:latin typeface="Aptos"/>
              </a:rPr>
              <a:t>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542032"/>
            <a:ext cx="18288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Thonburi"/>
              </a:rPr>
              <a:t>Escalation persist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011680"/>
            <a:ext cx="20574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157984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369DC"/>
                </a:solidFill>
                <a:latin typeface="Aptos"/>
              </a:rPr>
              <a:t>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2542032"/>
            <a:ext cx="18288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Thonburi"/>
              </a:rPr>
              <a:t>WiFi provisioning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011680"/>
            <a:ext cx="20574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157984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C9C5C"/>
                </a:solidFill>
                <a:latin typeface="Aptos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7" y="2542032"/>
            <a:ext cx="18288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Thonburi"/>
              </a:rPr>
              <a:t>Production deploy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886200"/>
            <a:ext cx="10287000" cy="1005840"/>
          </a:xfrm>
          <a:prstGeom prst="round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087368"/>
            <a:ext cx="9738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honburi"/>
              </a:rPr>
              <a:t>งานต่อไปคือทำให้ threshold แม่นขึ้น ระบบทนต่อ restart
และติดตั้งได้จริงในบ้านลูกค้าโดยไม่ต้อง hardcode WiFi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486400"/>
            <a:ext cx="8503920" cy="475488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5614416"/>
            <a:ext cx="81381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369DC"/>
                </a:solidFill>
                <a:latin typeface="Aptos"/>
              </a:rPr>
              <a:t>Mentor feedback รอบถัดไป (ยังไม่เริ่ม): unseen test, one-class model, realistic dataset, video demo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19088"/>
            <a:ext cx="11018520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650138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5C6773"/>
                </a:solidFill>
                <a:latin typeface="Aptos"/>
              </a:rPr>
              <a:t>4:15 - 5:00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