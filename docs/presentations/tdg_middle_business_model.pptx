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32918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Tahoma"/>
              </a:rPr>
              <a:t>Middle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87552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CF1DB"/>
                </a:solidFill>
                <a:latin typeface="Tahoma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828800"/>
            <a:ext cx="64922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000" b="1">
                <a:solidFill>
                  <a:srgbClr val="FFFFFF"/>
                </a:solidFill>
                <a:latin typeface="Tahoma"/>
              </a:rPr>
              <a:t>ระบบตรวจจับการล้มสำหรับผู้สูงอายุ</a:t>
            </a:r>
            <a:br/>
            <a:r>
              <a:rPr sz="3000" b="1">
                <a:solidFill>
                  <a:srgbClr val="FFFFFF"/>
                </a:solidFill>
                <a:latin typeface="Tahoma"/>
              </a:rPr>
              <a:t>แบบไม่ใช้กล้องและไม่ต้องใส่อุปกรณ์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035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EF3EF"/>
                </a:solidFill>
                <a:latin typeface="Tahoma"/>
              </a:rPr>
              <a:t>WiFi CSI + ML inference + caregiver app + alert escalation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960120"/>
            <a:ext cx="3566160" cy="4434840"/>
          </a:xfrm>
          <a:prstGeom prst="roundRect">
            <a:avLst/>
          </a:prstGeom>
          <a:solidFill>
            <a:srgbClr val="F6FBFA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960120"/>
            <a:ext cx="64008" cy="443484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106424"/>
            <a:ext cx="32735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2B45"/>
                </a:solidFill>
                <a:latin typeface="Tahoma"/>
              </a:rPr>
              <a:t>Core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472184"/>
            <a:ext cx="3264408" cy="3794759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ขายผลลัพธ์: ลดเวลาที่ผู้สูงอายุอยู่ลำพังหลังล้ม</a:t>
            </a:r>
          </a:p>
          <a:p>
            <a:pPr algn="l">
              <a:lnSpc>
                <a:spcPct val="84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ใช้ B2B2C เป็นทางเข้า: บ้านพัก/ศูนย์ดูแล/คลินิก</a:t>
            </a:r>
          </a:p>
          <a:p>
            <a:pPr algn="l">
              <a:lnSpc>
                <a:spcPct val="84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รายได้หลักเป็น recurring monitoring ต่อห้อง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DADEE4"/>
                </a:solidFill>
                <a:latin typeface="Tahoma"/>
              </a:rPr>
              <a:t>Prepared for TDG project | 22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ปัญหาและโอกาส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Fall risk เป็น pain ที่เกิดในบ้าน แต่ครอบครัวมักรู้ช้าเกินไป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90472"/>
            <a:ext cx="2468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5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88E7F"/>
                </a:solidFill>
                <a:latin typeface="Tahoma"/>
              </a:rPr>
              <a:t>13.7M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93976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คนไทยอายุ 60+ ปี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7802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ประมาณ 20.83% ของประชากรไทยในปี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90472"/>
            <a:ext cx="2468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636775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4C56"/>
                </a:solidFill>
                <a:latin typeface="Tahoma"/>
              </a:rPr>
              <a:t>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93976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การล้มของผู้สูงอายุ/ปี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7802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รายงานอ้างอิงไทย: ราว 60,000 รายต้องนอนโรงพยาบาล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490472"/>
            <a:ext cx="2468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36775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BA03B"/>
                </a:solidFill>
                <a:latin typeface="Tahoma"/>
              </a:rP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93976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เกิดบริเวณบ้าน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47802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เหมาะกับ solution ที่ติดตั้งในห้องและเคารพ privacy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490472"/>
            <a:ext cx="2468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636775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70B8"/>
                </a:solidFill>
                <a:latin typeface="Tahoma"/>
              </a:rPr>
              <a:t>No 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93976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ช่องว่างของตลาด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7802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ห้องนอน/ห้องน้ำต้องการ sensing ที่ไม่ละเมิดความเป็นส่วนตัว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474720"/>
            <a:ext cx="3291840" cy="160020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474720"/>
            <a:ext cx="64008" cy="160020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21024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Pain ของครอบครัว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3"/>
            <a:ext cx="2990088" cy="9601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อยู่คนละบ้าน/คนละจังหวัด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ไม่รู้ว่าล้มจริงเมื่อไร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กังวลเรื่องกล้องในพื้นที่ส่วนตัว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474720"/>
            <a:ext cx="3291840" cy="160020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7408" y="3474720"/>
            <a:ext cx="64008" cy="160020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621024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Pain ของสถานดูแล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86783"/>
            <a:ext cx="2990088" cy="9601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เจ้าหน้าที่ดูแลหลายห้องพร้อมกัน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ต้องมี event log เพื่อคุยกับญาติ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ต้องลด response time ตอนกลางคืน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474720"/>
            <a:ext cx="3291840" cy="1600200"/>
          </a:xfrm>
          <a:prstGeom prst="roundRect">
            <a:avLst/>
          </a:prstGeom>
          <a:solidFill>
            <a:srgbClr val="FCF1DB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3474720"/>
            <a:ext cx="64008" cy="1600200"/>
          </a:xfrm>
          <a:prstGeom prst="rect">
            <a:avLst/>
          </a:prstGeom>
          <a:solidFill>
            <a:srgbClr val="DBA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621024"/>
            <a:ext cx="2999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โอกาสของ Middle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86783"/>
            <a:ext cx="2990088" cy="96012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ไม่ต้องใส่อุปกรณ์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ไม่ใช้ภาพ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ต่อยอดเป็น monitoring subscription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Market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Thailand-first sizing พร้อมสมมติฐานที่ต้อง validate จาก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146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563624"/>
            <a:ext cx="2221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70B8"/>
                </a:solidFill>
                <a:latin typeface="Tahoma"/>
              </a:rPr>
              <a:t>USD 516.9M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20824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Global market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21854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Fall detection systems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17320"/>
            <a:ext cx="25146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563624"/>
            <a:ext cx="2221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88E7F"/>
                </a:solidFill>
                <a:latin typeface="Tahoma"/>
              </a:rPr>
              <a:t>USD 939.7M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4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Global market 2033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404872"/>
            <a:ext cx="21854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CAGR ประมาณ 7.8%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25146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63624"/>
            <a:ext cx="2221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4C56"/>
                </a:solidFill>
                <a:latin typeface="Tahoma"/>
              </a:rPr>
              <a:t>0.7-1.4M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0824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Thailand 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21854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สมมติฐาน: 5-10% ของผู้สูงอายุไทยเป็นกลุ่มจ่ายเอง/เสี่ยงสูง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17320"/>
            <a:ext cx="251460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563624"/>
            <a:ext cx="2221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BA03B"/>
                </a:solidFill>
                <a:latin typeface="Tahoma"/>
              </a:rPr>
              <a:t>300-1,000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20824"/>
            <a:ext cx="218541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Year-1 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404872"/>
            <a:ext cx="218541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เป้าหมายเชิง pilot/early paid rooms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546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154680"/>
            <a:ext cx="4297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13.7M ผู้สูงอายุไทย 60+ ปี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7647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776472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บ้าน/สถานดูแลที่มี purchasing power และต้องการ monitoring 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98264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398264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028"/>
                </a:solidFill>
                <a:latin typeface="Tahoma"/>
              </a:rPr>
              <a:t>เริ่มจาก facility/home-care เพราะติดตั้งหลายห้องและเก็บ feedback ได้เร็ว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063240"/>
            <a:ext cx="3429000" cy="17007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3063240"/>
            <a:ext cx="64008" cy="1700784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3209544"/>
            <a:ext cx="3136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Market wedge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3575304"/>
            <a:ext cx="3127248" cy="1060704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960" b="0">
                <a:solidFill>
                  <a:srgbClr val="1C2028"/>
                </a:solidFill>
                <a:latin typeface="Tahoma"/>
              </a:rPr>
              <a:t>ไม่ควรเริ่มด้วย mass consumer ทันที</a:t>
            </a:r>
          </a:p>
          <a:p>
            <a:pPr algn="l">
              <a:lnSpc>
                <a:spcPct val="84000"/>
              </a:lnSpc>
            </a:pPr>
            <a:r>
              <a:rPr sz="960" b="0">
                <a:solidFill>
                  <a:srgbClr val="1C2028"/>
                </a:solidFill>
                <a:latin typeface="Tahoma"/>
              </a:rPr>
              <a:t>เริ่มกับ buyer ที่มี risk, budget และ workflow ชัด</a:t>
            </a:r>
          </a:p>
          <a:p>
            <a:pPr algn="l">
              <a:lnSpc>
                <a:spcPct val="84000"/>
              </a:lnSpc>
            </a:pPr>
            <a:r>
              <a:rPr sz="960" b="0">
                <a:solidFill>
                  <a:srgbClr val="1C2028"/>
                </a:solidFill>
                <a:latin typeface="Tahoma"/>
              </a:rPr>
              <a:t>ใช้ case study ขายต่อ B2C ผ่าน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833872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5E6574"/>
                </a:solidFill>
                <a:latin typeface="Tahoma"/>
              </a:rPr>
              <a:t>หมายเหตุ: SAM/SOM เป็น working assumption สำหรับแผนธุรกิจ ต้องยืนยันด้วย pilot data และ willingness-to-pay interview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Product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ขายความมั่นใจและ response time ไม่ใช่ขายกล่อง ESP32 อย่างเดียว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99616"/>
            <a:ext cx="2212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801368"/>
            <a:ext cx="22128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ESP32 รับ WiFi CSI ในห้อง โดยไม่ใช้ภาพและไม่ต้องให้ผู้สูงอายุใส่อุปกรณ์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505456"/>
            <a:ext cx="2212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Infer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807208"/>
            <a:ext cx="22128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ML service ประมวลผล feature window และส่งผล fall / no fall ไป backend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0440"/>
            <a:ext cx="411480" cy="411480"/>
          </a:xfrm>
          <a:prstGeom prst="ellipse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511296"/>
            <a:ext cx="2212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813048"/>
            <a:ext cx="22128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Express API บันทึก event, ส่ง push notification และรอ caregiver acknowledge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26280"/>
            <a:ext cx="411480" cy="411480"/>
          </a:xfrm>
          <a:prstGeom prst="ellipse">
            <a:avLst/>
          </a:prstGeom>
          <a:solidFill>
            <a:srgbClr val="DBA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994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517136"/>
            <a:ext cx="2212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818888"/>
            <a:ext cx="221284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ถ้าไม่มี ack ภายในเวลาที่กำหนด ระบบโทรแจ้งเตือนผ่าน Twilio voice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17320"/>
            <a:ext cx="3063240" cy="361188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417320"/>
            <a:ext cx="64008" cy="361188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1563624"/>
            <a:ext cx="2770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Differentiation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1929384"/>
            <a:ext cx="2761488" cy="29718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ไม่ใช้กล้อง: เหมาะกับพื้นที่ส่วนตัว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ไม่ต้องใส่ wearable: ลดปัญหาลืมชาร์จ/ลืมใส่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hardware ต้นทุนต่ำ: scale เป็นหลายห้องได้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app + ack flow: ลด false 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417320"/>
            <a:ext cx="3063240" cy="361188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1417320"/>
            <a:ext cx="64008" cy="361188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1563624"/>
            <a:ext cx="2770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Current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1929384"/>
            <a:ext cx="2761488" cy="29718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Mobile caregiver app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Express API: predict/events/ack/push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Supabase fall_events + push_tokens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Twilio escalation</a:t>
            </a:r>
          </a:p>
          <a:p>
            <a:pPr algn="l">
              <a:lnSpc>
                <a:spcPct val="84000"/>
              </a:lnSpc>
            </a:pPr>
            <a:r>
              <a:rPr sz="1040" b="0">
                <a:solidFill>
                  <a:srgbClr val="1C2028"/>
                </a:solidFill>
                <a:latin typeface="Tahoma"/>
              </a:rPr>
              <a:t>ESP32 CSI data collection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779008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5E6574"/>
                </a:solidFill>
                <a:latin typeface="Tahoma"/>
              </a:rPr>
              <a:t>Product claim ควรใช้คำว่า privacy-preserving monitoring จนกว่าจะมี field validation ที่เพียงพอสำหรับ clinical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เลือก beachhead ที่ซื้อเร็วและติดตั้งซ้ำได้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104120" cy="39502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104120" cy="658368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499616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499616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Buyer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17320"/>
            <a:ext cx="5486" cy="658368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99616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Pain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5486" cy="658368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1499616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Offer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17320"/>
            <a:ext cx="5486" cy="658368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157984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บ้านทั่วไป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157984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ลูกหลาน/ผู้ดูแล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075688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157984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กังวลเวลาผู้สูงอายุอยู่ลำพัง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075688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2157984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Home kit + app + alert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075688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075688"/>
            <a:ext cx="1010412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2816352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บ้านพักผู้สูงอายุ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2816352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เจ้าของกิจการ/หัวหน้าพยาบาล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734056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2816352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ดูแลหลายห้อง, ต้องมี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2734056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2816352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Facility plan ต่อห้อง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734056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2734056"/>
            <a:ext cx="1010412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474720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Home-care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2032" y="3474720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ผู้จัดการบริการ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3392424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3474720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อยากเพิ่ม service value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3392424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1" y="3474720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Partner bundle + revenue share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392424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392424"/>
            <a:ext cx="1010412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133087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โรงพยาบาล/คลินิกฟื้นฟู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4133087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ผู้บริหาร/ทีม discharge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050791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4133087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ติดตามผู้ป่วยหลังกลับบ้าน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6280" y="4050791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1231" y="4133087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Post-discharge 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4050791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4050791"/>
            <a:ext cx="1010412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1" y="4791455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ประกัน/รัฐ/เทศบาล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2032" y="4791455"/>
            <a:ext cx="191109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Program owner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709159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9432" y="4791455"/>
            <a:ext cx="2825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ลด risk และต้นทุนดูแลระยะยาว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709159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71231" y="4791455"/>
            <a:ext cx="30998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Annual contract +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4709159"/>
            <a:ext cx="5486" cy="65836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4709159"/>
            <a:ext cx="1010412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2960" y="5623560"/>
            <a:ext cx="10195560" cy="566928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60" y="5623560"/>
            <a:ext cx="64008" cy="566928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5769864"/>
            <a:ext cx="9902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Recommendation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6135624"/>
            <a:ext cx="9893808" cy="-73151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860" b="0">
                <a:solidFill>
                  <a:srgbClr val="1C2028"/>
                </a:solidFill>
                <a:latin typeface="Tahoma"/>
              </a:rPr>
              <a:t>เริ่มจากบ้านพักผู้สูงอายุและ home-care agency ก่อน เพราะ one sale = หลายห้อง และวัด operational ROI ได้ชัดกว่าบ้านเดี่ยว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รายได้หลักควรเป็น recurring service ไม่ใช่ margin จาก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337560" cy="141732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17320"/>
            <a:ext cx="64008" cy="141732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636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1. Hardware starter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29384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ขาย/เช่าอุปกรณ์ต่อห้อง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รวม setup, calibration, replacement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337560" cy="141732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417320"/>
            <a:ext cx="64008" cy="141732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5636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2. Monitoring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29384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cloud inference, app alerts, event history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คิดรายเดือนต่อบ้านหรือต่อห้อง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417320"/>
            <a:ext cx="3337560" cy="141732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417320"/>
            <a:ext cx="64008" cy="14173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5636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3. Escalation add-on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29384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voice call/SMS, caregiver tree, SLA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คิดเป็นแพ็กเกจหรือ pass-through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46120"/>
            <a:ext cx="3337560" cy="1417320"/>
          </a:xfrm>
          <a:prstGeom prst="roundRect">
            <a:avLst/>
          </a:prstGeom>
          <a:solidFill>
            <a:srgbClr val="FCF1DB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46120"/>
            <a:ext cx="64008" cy="1417320"/>
          </a:xfrm>
          <a:prstGeom prst="rect">
            <a:avLst/>
          </a:prstGeom>
          <a:solidFill>
            <a:srgbClr val="DBA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3924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4. Facility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758183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dashboard, multi-room status, reports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admin seats + monthly room fee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246120"/>
            <a:ext cx="33375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3246120"/>
            <a:ext cx="64008" cy="1417320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1144" y="33924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5. Service &amp;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3758183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installation, annual maintenance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training for caregiver workflows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246120"/>
            <a:ext cx="33375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2" y="3246120"/>
            <a:ext cx="64008" cy="141732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392424"/>
            <a:ext cx="3044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6. Partner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758183"/>
            <a:ext cx="3035808" cy="77724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home-care/clinic bundle</a:t>
            </a:r>
          </a:p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revenue share หรือ wholesale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715000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2B45"/>
                </a:solidFill>
                <a:latin typeface="Tahoma"/>
              </a:rPr>
              <a:t>Business rule: ให้ hardware เป็น entry cost ที่ยอมรับได้ แล้วใช้ monitoring + support + dashboard เป็น margin ระยะยาว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Pricing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ราคาเริ่มต้นที่เสนอสำหรับ validation ไม่ใช่ final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9144000" cy="3566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9144000" cy="713232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08176"/>
            <a:ext cx="186537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408176"/>
            <a:ext cx="223113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325880"/>
            <a:ext cx="5486" cy="713232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408176"/>
            <a:ext cx="2185415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1325880"/>
            <a:ext cx="5486" cy="713232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7223" y="1408176"/>
            <a:ext cx="227685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Tahoma"/>
              </a:rPr>
              <a:t>Monthly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071" y="1325880"/>
            <a:ext cx="5486" cy="713232"/>
          </a:xfrm>
          <a:prstGeom prst="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121408"/>
            <a:ext cx="186537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Home 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121408"/>
            <a:ext cx="223113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บ้าน 1 ห้อง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2039112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121408"/>
            <a:ext cx="2185415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1,990-3,990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2039112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3" y="2121408"/>
            <a:ext cx="227685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199-399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1" y="2039112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2039112"/>
            <a:ext cx="914400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834639"/>
            <a:ext cx="186537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Family 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834639"/>
            <a:ext cx="223113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บ้าน + escalation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2752344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2834639"/>
            <a:ext cx="2185415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2,990-4,990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02352" y="2752344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7223" y="2834639"/>
            <a:ext cx="227685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599-999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4071" y="2752344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2752344"/>
            <a:ext cx="914400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3547872"/>
            <a:ext cx="186537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Facility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064" y="3547872"/>
            <a:ext cx="223113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10-30 ห้อง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24912" y="3465576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3547872"/>
            <a:ext cx="2185415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20k-60k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02352" y="3465576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07223" y="3547872"/>
            <a:ext cx="227685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THB 150-350 / ห้อง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4071" y="3465576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3465576"/>
            <a:ext cx="914400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261104"/>
            <a:ext cx="186537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182B45"/>
                </a:solidFill>
                <a:latin typeface="Tahoma"/>
              </a:rPr>
              <a:t>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98064" y="4261104"/>
            <a:ext cx="223113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รพ./ประกัน/รัฐ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24912" y="4178808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4261104"/>
            <a:ext cx="2185415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ตาม scope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02352" y="4178808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7223" y="4261104"/>
            <a:ext cx="2276856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C2028"/>
                </a:solidFill>
                <a:latin typeface="Tahoma"/>
              </a:rPr>
              <a:t>annual contract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34071" y="4178808"/>
            <a:ext cx="5486" cy="713232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4178808"/>
            <a:ext cx="9144000" cy="548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68680" y="5166360"/>
            <a:ext cx="3154680" cy="86868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5166360"/>
            <a:ext cx="64008" cy="86868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1" y="5312664"/>
            <a:ext cx="2862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2B45"/>
                </a:solidFill>
                <a:latin typeface="Tahoma"/>
              </a:rPr>
              <a:t>Price anchor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" y="5678424"/>
            <a:ext cx="2852928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850" b="0">
                <a:solidFill>
                  <a:srgbClr val="1C2028"/>
                </a:solidFill>
                <a:latin typeface="Tahoma"/>
              </a:rPr>
              <a:t>Medical alert ในต่างประเทศมักคิด subscription ประมาณ USD 20-60/เดือน และ fall detection เป็น add-on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5166360"/>
            <a:ext cx="3154680" cy="86868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5166360"/>
            <a:ext cx="64008" cy="86868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53712" y="5312664"/>
            <a:ext cx="2862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2B45"/>
                </a:solidFill>
                <a:latin typeface="Tahoma"/>
              </a:rPr>
              <a:t>Thai affordability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3712" y="5678424"/>
            <a:ext cx="2852928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850" b="0">
                <a:solidFill>
                  <a:srgbClr val="1C2028"/>
                </a:solidFill>
                <a:latin typeface="Tahoma"/>
              </a:rPr>
              <a:t>ควรเริ่มต่ำกว่า wearable/medical alert imported และผูกกับบริการติดตั้งในไทย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09560" y="5166360"/>
            <a:ext cx="3154680" cy="86868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09560" y="5166360"/>
            <a:ext cx="64008" cy="86868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74152" y="5312664"/>
            <a:ext cx="2862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2B45"/>
                </a:solidFill>
                <a:latin typeface="Tahoma"/>
              </a:rPr>
              <a:t>Do not underprice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74152" y="5678424"/>
            <a:ext cx="2852928" cy="228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850" b="0">
                <a:solidFill>
                  <a:srgbClr val="1C2028"/>
                </a:solidFill>
                <a:latin typeface="Tahoma"/>
              </a:rPr>
              <a:t>ต้นทุนจริงอยู่ที่ install, calibration, cloud, Twilio, QA และความรับผิดชอบตอน emergency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Unit Economics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ตัวอย่าง facility 30 ห้อง เพื่อเห็น path ไป recurring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463040"/>
            <a:ext cx="24688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09344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70B8"/>
                </a:solidFill>
                <a:latin typeface="Tahoma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ห้องต่อ facility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450592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สมมติฐาน pilot แบบบ้านพักขนาดเล็ก-กลาง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463040"/>
            <a:ext cx="24688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609344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88E7F"/>
                </a:solidFill>
                <a:latin typeface="Tahoma"/>
              </a:rPr>
              <a:t>THB 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0665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ARPU / ห้อง / เดือน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450592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ใช้ราคา Facility Pro ระดับกลาง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463040"/>
            <a:ext cx="24688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09344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24C56"/>
                </a:solidFill>
                <a:latin typeface="Tahoma"/>
              </a:rPr>
              <a:t>THB 7,500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0665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MRR / 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50592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30 ห้อง x 250 บาท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463040"/>
            <a:ext cx="24688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609344"/>
            <a:ext cx="21762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BA03B"/>
                </a:solidFill>
                <a:latin typeface="Tahoma"/>
              </a:rPr>
              <a:t>THB 90k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0665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2B45"/>
                </a:solidFill>
                <a:latin typeface="Tahoma"/>
              </a:rPr>
              <a:t>ARR / facility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450592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574"/>
                </a:solidFill>
                <a:latin typeface="Tahoma"/>
              </a:rPr>
              <a:t>ก่อน add-on dashboard/SLA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46120"/>
            <a:ext cx="3017520" cy="132588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246120"/>
            <a:ext cx="64008" cy="132588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392424"/>
            <a:ext cx="2724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20 facilities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758183"/>
            <a:ext cx="2715768" cy="6858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ประมาณ THB 1.8M ARR</a:t>
            </a:r>
          </a:p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ยังไม่รวม setup fee และบริการเสริม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246120"/>
            <a:ext cx="3017520" cy="132588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246120"/>
            <a:ext cx="64008" cy="132588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392424"/>
            <a:ext cx="2724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Gross margin levers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758183"/>
            <a:ext cx="2715768" cy="6858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ลด site visit ด้วย BLE provisioning</a:t>
            </a:r>
          </a:p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ทำ remote diagnostics</a:t>
            </a:r>
          </a:p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bundle Twilio usage ให้คุมต้นทุน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246120"/>
            <a:ext cx="3017520" cy="132588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246120"/>
            <a:ext cx="64008" cy="132588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392424"/>
            <a:ext cx="2724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Key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758183"/>
            <a:ext cx="2715768" cy="6858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false alarm สูงจะทำให้ churn</a:t>
            </a:r>
          </a:p>
          <a:p>
            <a:pPr algn="l">
              <a:lnSpc>
                <a:spcPct val="84000"/>
              </a:lnSpc>
            </a:pPr>
            <a:r>
              <a:rPr sz="1030" b="0">
                <a:solidFill>
                  <a:srgbClr val="1C2028"/>
                </a:solidFill>
                <a:latin typeface="Tahoma"/>
              </a:rPr>
              <a:t>missed fall จะกระทบ trust และ liability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687568"/>
            <a:ext cx="9692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182B45"/>
                </a:solidFill>
                <a:latin typeface="Tahoma"/>
              </a:rPr>
              <a:t>ข้อสรุป: โมเดลนี้ scale ได้เมื่อ response workflow และ field accuracy ดีพอ ไม่ใช่เมื่อ hardware ถูกอย่างเดียว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เริ่มจาก pilot ที่วัดผลได้ แล้วใช้ case study ขายต่อ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411480" cy="411480"/>
          </a:xfrm>
          <a:prstGeom prst="ellipse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408176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Pilot: 3-5 facilities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709928"/>
            <a:ext cx="431596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ติดตั้ง 10-30 ห้อง/แห่ง ระยะ 6-8 สัปดาห์ วัด false alarm, response time, ack rate และ caregiver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505456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Paid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807208"/>
            <a:ext cx="431596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เปลี่ยน pilot ที่ผ่าน threshold เป็น monthly room fee พร้อม setup/support contract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602736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Partner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904488"/>
            <a:ext cx="431596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ให้ home-care agency, คลินิกฟื้นฟู และร้านอุปกรณ์ผู้สูงอายุช่วยขาย B2C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09160"/>
            <a:ext cx="411480" cy="411480"/>
          </a:xfrm>
          <a:prstGeom prst="ellipse">
            <a:avLst/>
          </a:prstGeom>
          <a:solidFill>
            <a:srgbClr val="DBA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8231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700016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2B45"/>
                </a:solidFill>
                <a:latin typeface="Tahoma"/>
              </a:rPr>
              <a:t>Enterprise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5001768"/>
            <a:ext cx="4315968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574"/>
                </a:solidFill>
                <a:latin typeface="Tahoma"/>
              </a:rPr>
              <a:t>ใช้ข้อมูล case study เข้าโรงพยาบาล ประกัน เทศบาล หรือ CSR elderly care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417320"/>
            <a:ext cx="4297680" cy="123444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417320"/>
            <a:ext cx="64008" cy="123444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1563624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Beachhead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929384"/>
            <a:ext cx="3995928" cy="59436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Middle ช่วยให้เจ้าหน้าที่รู้เร็วขึ้นเมื่อมี fall-risk event โดยไม่ต้องติดกล้องในพื้นที่ส่วนตัว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971800"/>
            <a:ext cx="4297680" cy="123444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2971800"/>
            <a:ext cx="64008" cy="123444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3118104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Proof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483864"/>
            <a:ext cx="3995928" cy="59436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before/after response time, false escalation rate, caregiver satisfaction, installation time ต่อห้อง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4526280"/>
            <a:ext cx="4297680" cy="123444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9400" y="4526280"/>
            <a:ext cx="64008" cy="123444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672584"/>
            <a:ext cx="40050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2B45"/>
                </a:solidFill>
                <a:latin typeface="Tahoma"/>
              </a:rPr>
              <a:t>Sales asset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5038344"/>
            <a:ext cx="3995928" cy="59436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50" b="0">
                <a:solidFill>
                  <a:srgbClr val="1C2028"/>
                </a:solidFill>
                <a:latin typeface="Tahoma"/>
              </a:rPr>
              <a:t>1-page case study + dashboard screenshot + pricing card + privacy FAQ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Validation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ก่อนขายจริง ต้องปิด risk ด้าน reliability และ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246120" cy="3566160"/>
          </a:xfrm>
          <a:prstGeom prst="roundRect">
            <a:avLst/>
          </a:prstGeom>
          <a:solidFill>
            <a:srgbClr val="E7EEFC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64008" cy="3566160"/>
          </a:xfrm>
          <a:prstGeom prst="rect">
            <a:avLst/>
          </a:prstGeom>
          <a:solidFill>
            <a:srgbClr val="4A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72184"/>
            <a:ext cx="2953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Product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37943"/>
            <a:ext cx="2944368" cy="2926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BLE WiFi provisioning สำหรับลูกค้า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durable escalation timer ไม่หายเมื่อ server restart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production API key/env config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facility dashboard และ multi-room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325880"/>
            <a:ext cx="3246120" cy="3566160"/>
          </a:xfrm>
          <a:prstGeom prst="roundRect">
            <a:avLst/>
          </a:prstGeom>
          <a:solidFill>
            <a:srgbClr val="DEF3EF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25880"/>
            <a:ext cx="64008" cy="3566160"/>
          </a:xfrm>
          <a:prstGeom prst="rect">
            <a:avLst/>
          </a:prstGeom>
          <a:solidFill>
            <a:srgbClr val="188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72184"/>
            <a:ext cx="2953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Market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837943"/>
            <a:ext cx="2944368" cy="2926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20+ caregiver interviews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5+ facility pilots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willingness-to-pay test 3 price tiers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channel partner conversations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325880"/>
            <a:ext cx="3246120" cy="3566160"/>
          </a:xfrm>
          <a:prstGeom prst="roundRect">
            <a:avLst/>
          </a:prstGeom>
          <a:solidFill>
            <a:srgbClr val="FDE8E9"/>
          </a:solidFill>
          <a:ln w="889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1325880"/>
            <a:ext cx="64008" cy="356616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472184"/>
            <a:ext cx="29535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2B45"/>
                </a:solidFill>
                <a:latin typeface="Tahoma"/>
              </a:rPr>
              <a:t>Business safeguards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837943"/>
            <a:ext cx="2944368" cy="29260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ใช้คำว่า assistive monitoring ไม่ใช่อุปกรณ์แพทย์จนกว่าจะพร้อม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privacy policy และ data retention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incident escalation disclaimer</a:t>
            </a:r>
          </a:p>
          <a:p>
            <a:pPr algn="l">
              <a:lnSpc>
                <a:spcPct val="84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SLA เฉพาะ plan ที่รองรับจริง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82B45"/>
                </a:solidFill>
                <a:latin typeface="Tahoma"/>
              </a:rPr>
              <a:t>Next ask: หา pilot partner + งบติดตั้ง 50 ห้อง + validation 8 สัปดาห์ เพื่อเปลี่ยน prototype เป็น paid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78638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2B45"/>
                </a:solidFill>
                <a:latin typeface="Tahoma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74980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574"/>
                </a:solidFill>
                <a:latin typeface="Tahoma"/>
              </a:rPr>
              <a:t>แหล่งข้อมูลภายนอกและข้อมูลโปรเจคที่ใช้ใน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143000" cy="45720"/>
          </a:xfrm>
          <a:prstGeom prst="rect">
            <a:avLst/>
          </a:prstGeom>
          <a:solidFill>
            <a:srgbClr val="E2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10698480" cy="25146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ThaiTGRI, Situation of the Thai Elderly 2024: 13.7M older Thais, 20.83% of population, Ageing in Place theme</a:t>
            </a:r>
          </a:p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WHO, Falls fact sheet: falls are the second leading cause of unintentional injury deaths; 37.3M falls need medical attention globally</a:t>
            </a:r>
          </a:p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BMC Geriatrics / Thai DDC cited data: approx. 3M older-adult falls/year in Thailand, 60,000 hospitalized, around 65% in home area</a:t>
            </a:r>
          </a:p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Grand View Research Horizon: global fall detection systems market USD 516.9M in 2025, USD 939.7M by 2033, 7.8% CAGR</a:t>
            </a:r>
          </a:p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NCOA medical alert systems guide: monitored medical alert subscription often USD 20-60/month; fall detection add-on USD 5-12/month</a:t>
            </a:r>
          </a:p>
          <a:p>
            <a:pPr algn="l">
              <a:lnSpc>
                <a:spcPct val="88000"/>
              </a:lnSpc>
            </a:pPr>
            <a:r>
              <a:rPr sz="1019" b="0">
                <a:solidFill>
                  <a:srgbClr val="1C2028"/>
                </a:solidFill>
                <a:latin typeface="Tahoma"/>
              </a:rPr>
              <a:t>• TDG repo context: WiFi CSI via ESP32, Express API, ML service, Supabase fall_events, Expo push, Twilio escalation, caregiver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2B45"/>
                </a:solidFill>
                <a:latin typeface="Tahoma"/>
              </a:rPr>
              <a:t>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681728"/>
            <a:ext cx="10698480" cy="109728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 algn="l">
              <a:lnSpc>
                <a:spcPct val="80000"/>
              </a:lnSpc>
            </a:pPr>
            <a:r>
              <a:rPr sz="830" b="0">
                <a:solidFill>
                  <a:srgbClr val="5E6574"/>
                </a:solidFill>
                <a:latin typeface="Tahoma"/>
              </a:rPr>
              <a:t>• https://thaitgri.org/?p=40655</a:t>
            </a:r>
          </a:p>
          <a:p>
            <a:pPr algn="l">
              <a:lnSpc>
                <a:spcPct val="80000"/>
              </a:lnSpc>
            </a:pPr>
            <a:r>
              <a:rPr sz="830" b="0">
                <a:solidFill>
                  <a:srgbClr val="5E6574"/>
                </a:solidFill>
                <a:latin typeface="Tahoma"/>
              </a:rPr>
              <a:t>• https://www.who.int/news-room/fact-sheets/detail/falls</a:t>
            </a:r>
          </a:p>
          <a:p>
            <a:pPr algn="l">
              <a:lnSpc>
                <a:spcPct val="80000"/>
              </a:lnSpc>
            </a:pPr>
            <a:r>
              <a:rPr sz="830" b="0">
                <a:solidFill>
                  <a:srgbClr val="5E6574"/>
                </a:solidFill>
                <a:latin typeface="Tahoma"/>
              </a:rPr>
              <a:t>• https://link.springer.com/article/10.1186/s12877-023-04419-7</a:t>
            </a:r>
          </a:p>
          <a:p>
            <a:pPr algn="l">
              <a:lnSpc>
                <a:spcPct val="80000"/>
              </a:lnSpc>
            </a:pPr>
            <a:r>
              <a:rPr sz="830" b="0">
                <a:solidFill>
                  <a:srgbClr val="5E6574"/>
                </a:solidFill>
                <a:latin typeface="Tahoma"/>
              </a:rPr>
              <a:t>• https://www.grandviewresearch.com/horizon/outlook/fall-detection-systems-market-size/global</a:t>
            </a:r>
          </a:p>
          <a:p>
            <a:pPr algn="l">
              <a:lnSpc>
                <a:spcPct val="80000"/>
              </a:lnSpc>
            </a:pPr>
            <a:r>
              <a:rPr sz="830" b="0">
                <a:solidFill>
                  <a:srgbClr val="5E6574"/>
                </a:solidFill>
                <a:latin typeface="Tahoma"/>
              </a:rPr>
              <a:t>• https://www.ncoa.org/article/medical-alert-systems-buyers-guide/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TDG / Middle 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E6574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